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เปิดการอบรม" id="{1298cdab-2d82-16f8-31cf-4c77915021aa}">
          <p14:sldIdLst>
            <p14:sldId id="256"/>
            <p14:sldId id="257"/>
            <p14:sldId id="258"/>
          </p14:sldIdLst>
        </p14:section>
        <p14:section name="ลูกค้า" id="{1f25da27-803f-e157-899a-73de494d5e5a}">
          <p14:sldIdLst>
            <p14:sldId id="259"/>
            <p14:sldId id="260"/>
            <p14:sldId id="261"/>
          </p14:sldIdLst>
        </p14:section>
        <p14:section name="คลัง" id="{f0b93b84-f7c6-5fe3-ece8-3ece7e5dd24f}">
          <p14:sldIdLst>
            <p14:sldId id="262"/>
            <p14:sldId id="263"/>
            <p14:sldId id="264"/>
          </p14:sldIdLst>
        </p14:section>
        <p14:section name="ไรเดอร์" id="{7ff86e65-df02-d491-00cb-0558f5992444}">
          <p14:sldIdLst>
            <p14:sldId id="265"/>
            <p14:sldId id="266"/>
            <p14:sldId id="267"/>
            <p14:sldId id="268"/>
          </p14:sldIdLst>
        </p14:section>
        <p14:section name="แอดมิน" id="{6019227c-f2a9-dbe2-e420-0d718fec4cd0}">
          <p14:sldIdLst>
            <p14:sldId id="269"/>
            <p14:sldId id="270"/>
            <p14:sldId id="271"/>
          </p14:sldIdLst>
        </p14:section>
        <p14:section name="สรุป" id="{e0c0e070-9553-3ad8-d182-f023d96a9573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ต้อนรับผู้เข้าอบรม แนะนำว่าวันนี้จะเรียนการใช้ระบบ Drink&amp;Go ตั้งแต่ลูกค้าสั่งน้ำจนปิดงานพร้อมบันทึกถุงคืน ใช้เวลาประมาณ 30–40 นาที แนะนำให้เปิดเว็บ idrink.tamadee.online บนมือถือตามไปด้วย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อธิบายแถบเมนูด้านบนของเว็บ มี 5 ปุ่ม คือ 1. ลูกค้า, 2/8. คลัง, 3–7. ไรเดอร์, แอดมิน และ ตั้งค่า ตัวเลขบนแท็บบอกว่าฝ่ายนั้นรับผิดชอบขั้นไหนใน Flow ในการใช้งานจริงแต่ละคนจะเห็นเฉพาะแท็บของตัวเอง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ไล่ Flow ตามภาพ ขั้น 1 ลูกค้าสั่งซื้อ ขั้น 2 คลังรับคำสั่งซื้อ ขั้น 3 กดน้ำ ขั้น 4 ไรเดอร์ยืนยันรับสินค้า ขั้น 5 วิ่งส่ง ขั้น 6 ยืนยันการจัดส่ง แล้วถามว่ามีการคืนถุงไหม ถ้าไม่มีปิดงานทันที ถ้ามีไปขั้น 7 ไรเดอร์ยืนยันรับถุงคืน และขั้น 8 คลังยืนยันรับถุงเข้าคลัง แล้วปิดงานพร้อมบันทึกถุงคืน เน้น 4 จุดที่ต้องยืนยันในระบบ คือ รับออเดอร์ รับสินค้า ส่งสำเร็จ และรับคืน/ส่งคืนถุง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เริ่มจากมุมมองลูกค้า แม้พนักงานไม่ได้สั่งน้ำเอง แต่ต้องอธิบายให้ลูกค้าได้ และต้องรู้ว่า OTP มาจากไหน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สาธิตบนมือถือ กดแท็บ 1. ลูกค้า แล้วสั่งตามขั้น เน้นข้อ 3 ถ้าลูกค้าไม่มีถุงค้าง (0 ใบ) จะกดปุ่ม "มี" ไม่ได้ ซึ่งหน้าจอไม่บอกเหตุผล ให้อธิบายลูกค้าว่ายังไม่มีถุงให้คืน ถุงค้างจะเพิ่มทีละ 1 ใบต่อน้ำถัง 1 ถังที่ส่งสำเร็จ และลดเมื่อคืนถุง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หน้าติดตามสถานะแสดงสถานะ 8 ขั้น ขั้นที่ผ่านแล้วมีเครื่องหมายถูก ย้ำกับลูกค้าว่าอย่าบอก OTP ก่อนได้รับน้ำ เพราะ OTP คือหลักฐานว่าส่งถึงมือแล้ว เรื่องยกเลิกและสั่งซ้ำ ระบบยังไม่มีหน้าต่างยืนยัน ถ้าลูกค้ากดพลาดให้ติดต่อแอดมิน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ฝ่ายคลังมีงานต้นทางและปลายทาง คือรับออเดอร์กับนับถุงคืน งานทั้งหมดอยู่ในแท็บ 2/8. คลัง กดรีเฟรชเพื่อดึงรายการล่าสุด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สาธิตกดรับออเดอร์แล้วมอบหมายไรเดอร์ ชี้ให้เห็นว่าเมื่อรับออเดอร์แล้วปุ่มยกเลิกฝั่งลูกค้าจะหายไป ถ้าคลังเป็นคนกดน้ำเอง ให้กดปุ่มจัดของแทน งานไรเดอร์จะเริ่มที่ขั้นที่ 4 ทันที ก่อนกดรับออเดอร์ ให้ตรวจที่อยู่ลูกค้าด้วย เพราะระบบยังไม่เตือนถ้าที่อยู่ไม่ครบ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ออเดอร์ที่ไม่มีถุงคืนจะปิดเองหลังไรเดอร์ส่งสำเร็จ ไม่ต้องผ่านคลัง สำหรับออเดอร์ที่มีถุง ให้นับจริงทุกครั้ง อย่ากดยืนยันตามตัวเลขที่ระบบเติมให้ เพราะเป็นตัวเลขที่ลูกค้าแจ้ง ไม่ใช่ที่ไรเดอร์รับมา ถ้าตัวเลขไม่ตรง แอดมินจะเห็นในกล่องยอดถุงไม่ตรง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ส่วนนี้สำคัญที่สุดสำหรับพนักงานขนส่ง ไรเดอร์ทำงานทีละออเดอร์ตามคิว ปุ่มใหญ่บนการ์ดงานจะบอกขั้นถัดไปเสมอ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อธิบายตัวเลข 3 ช่องด้านบน เก็บเงินสดคือยอดเงินสดรวมของงานที่เหลือทั้งหมด ขั้นที่ 3 ถ้าคลังกดจัดของแทนแล้วจะข้ามไป ขั้นที่ 4 ต้องถ่ายรูปสินค้าบนรถ ถ้าไม่ถ่าย ระบบจะไม่ให้ยืนยัน ระบบเก็บพิกัด GPS ให้อัตโนมัติ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ขั้นนี้มีหลักฐาน 3 ส่วน ระบบไม่ให้ยืนยันถ้าขาดรูป และถ้ามีถุงคืนแต่ไม่ถ่ายรูปถุง ช่อง OTP ถ้าพิมพ์เร็วหรือวางรหัสทั้งชุดบางหลักจะหาย ให้พิมพ์ทีละหลัก จำนวนถุงให้ใส่ตามจริงเสมอ แม้ไม่ตรงกับที่ลูกค้าแจ้ง ระบบจะส่งต่อให้คลังและแอดมินตรวจเอง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กรณีส่งไม่สำเร็จ ออเดอร์จะเปลี่ยนเป็น FAILED_DELIVERY และหายจากคิวไรเดอร์ แอดมินจะนัดส่งใหม่และคลังต้องมอบหมายไรเดอร์อีกครั้ง กรณี OTP ล็อก สาเหตุที่พบบ่อยคือกรอกรหัสของออเดอร์อื่น ให้ลูกค้าเลือกออเดอร์ให้ถูกในหน้าติดตามสถานะ หลังแอดมินปลดล็อก หน้าจอแอดมินจะไม่ขึ้นข้อความยืนยัน แต่ระบบปลดล็อกแล้ว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แอดมินดูแลทุกขั้น หน้าที่หลักคือแก้ปัญหาที่ฝ่ายอื่นทำเองไม่ได้ ทุกอย่างอยู่ในแท็บ แอดมิน (Back Office F4)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ไล่ทีละปุ่ม ปุ่มอนุมัติสลิปยังไม่แสดงรูปสลิป ให้ตรวจยอดเงินเข้าบัญชีจริงก่อนกดทุกครั้ง กล่องยอดถุงไม่ตรงยังไม่แสดงตัวเลขของแต่ละฝ่าย ให้ดูจาก Audit Trail และโทรถามคลังกับไรเดอร์ก่อนเคลียร์ และควรใส่หมายเหตุทุกครั้งแม้ระบบไม่บังคับ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แจกตารางนี้เป็นชีทสรุป สถานะการชำระเงินมี 3 แบบ UNPAID ยังไม่จ่าย PENDING_VERIFY แนบสลิปแล้วรอตรวจ และ PAID จ่ายแล้ว เงินสดจะเป็น PAID เมื่อไรเดอร์ยืนยันส่งสำเร็จ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สรุปข้อจำกัดที่พบจากการทดสอบเมื่อ 25 ต.ค. 2026 ซึ่งทีมพัฒนากำลังแก้ไข ระหว่างนี้ให้ทุกฝ่ายทำตามข้อควรระวังนี้ เรื่องที่สำคัญที่สุดคือการเงิน แอดมินต้องตรวจยอดเงินจริงทุกครั้ง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ถามทีละข้อ ให้ผู้เข้าอบรมตอบก่อน แล้วค่อยเฉลยจากคอลัมน์ขวา ถ้าต้องการซ่อนเฉลย ให้ลบกล่องคำตอบออกก่อนนำเสนอ หรือใส่ animation ให้คำตอบขึ้นทีหลัง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เปิดให้ถามคำถาม แล้วให้แต่ละฝ่ายทดลองทำตาม Flow จริงหนึ่งรอบ จับคู่ลูกค้า คลัง ไรเดอร์ แอดมิน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F2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56692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ADCF0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0F2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011680" y="173736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011680" y="2743200"/>
            <a:ext cx="65836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ADCF0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93"/>
                </a:solidFill>
              </a:rPr>
              <a:t>Drink&amp;Go · อบรมการใช้งานระบบ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อบรมการใช้งานระบบ Drink&amp;Go Delivery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0"/>
                </a:solidFill>
              </a:rPr>
              <a:t>ขั้นตอนทำงาน 8 ขั้น สำหรับลูกค้า คลัง ไรเดอร์ และแอดมิน</a:t>
            </a:r>
            <a:endParaRPr lang="en-US" sz="1800" dirty="0"/>
          </a:p>
        </p:txBody>
      </p:sp>
      <p:sp>
        <p:nvSpPr>
          <p:cNvPr id="4" name="hero-circle"/>
          <p:cNvSpPr/>
          <p:nvPr/>
        </p:nvSpPr>
        <p:spPr>
          <a:xfrm>
            <a:off x="6492240" y="1188720"/>
            <a:ext cx="2286000" cy="2286000"/>
          </a:xfrm>
          <a:prstGeom prst="ellipse">
            <a:avLst/>
          </a:prstGeom>
          <a:solidFill>
            <a:srgbClr val="1A73C9"/>
          </a:solidFill>
          <a:ln w="12700">
            <a:solidFill>
              <a:srgbClr val="1A73C9"/>
            </a:solidFill>
            <a:prstDash val="solid"/>
          </a:ln>
        </p:spPr>
      </p:sp>
      <p:pic>
        <p:nvPicPr>
          <p:cNvPr id="5" name="hero-icon" descr="หยดน้ำ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1691640"/>
            <a:ext cx="1280160" cy="1280160"/>
          </a:xfrm>
          <a:prstGeom prst="rect">
            <a:avLst/>
          </a:prstGeom>
        </p:spPr>
      </p:pic>
      <p:sp>
        <p:nvSpPr>
          <p:cNvPr id="6" name="hero-badge"/>
          <p:cNvSpPr/>
          <p:nvPr/>
        </p:nvSpPr>
        <p:spPr>
          <a:xfrm>
            <a:off x="8001000" y="3063240"/>
            <a:ext cx="868680" cy="868680"/>
          </a:xfrm>
          <a:prstGeom prst="ellipse">
            <a:avLst/>
          </a:prstGeom>
          <a:solidFill>
            <a:srgbClr val="E84A7F"/>
          </a:solidFill>
          <a:ln w="12700">
            <a:solidFill>
              <a:srgbClr val="E84A7F"/>
            </a:solidFill>
            <a:prstDash val="solid"/>
          </a:ln>
        </p:spPr>
      </p:sp>
      <p:pic>
        <p:nvPicPr>
          <p:cNvPr id="7" name="hero-badge-icon" descr="ส่งของ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592" y="3227832"/>
            <a:ext cx="548640" cy="5486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FB3D9"/>
                </a:solidFill>
              </a:rPr>
              <a:t>idrink.tamadee.online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ระบบมีผู้ใช้ 4 ฝ่าย แต่ละฝ่ายมีแท็บของตัวเอง</a:t>
            </a:r>
            <a:endParaRPr lang="en-US" sz="2800" dirty="0"/>
          </a:p>
        </p:txBody>
      </p:sp>
      <p:sp>
        <p:nvSpPr>
          <p:cNvPr id="3" name="role-card-0"/>
          <p:cNvSpPr/>
          <p:nvPr/>
        </p:nvSpPr>
        <p:spPr>
          <a:xfrm>
            <a:off x="457200" y="1188720"/>
            <a:ext cx="1874520" cy="3246120"/>
          </a:xfrm>
          <a:prstGeom prst="roundRect">
            <a:avLst>
              <a:gd name="adj" fmla="val 5854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4" name="role-icon-0-bg"/>
          <p:cNvSpPr/>
          <p:nvPr/>
        </p:nvSpPr>
        <p:spPr>
          <a:xfrm>
            <a:off x="685800" y="1463040"/>
            <a:ext cx="731520" cy="731520"/>
          </a:xfrm>
          <a:prstGeom prst="ellipse">
            <a:avLst/>
          </a:prstGeom>
          <a:solidFill>
            <a:srgbClr val="1A73C9"/>
          </a:solidFill>
          <a:ln w="12700">
            <a:solidFill>
              <a:srgbClr val="1A73C9"/>
            </a:solidFill>
            <a:prstDash val="solid"/>
          </a:ln>
        </p:spPr>
      </p:sp>
      <p:pic>
        <p:nvPicPr>
          <p:cNvPr id="5" name="role-icon-0" descr="MdPers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734" y="1623974"/>
            <a:ext cx="409651" cy="40965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3317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ลูกค้า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7249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</a:rPr>
              <a:t>แท็บ 1. ลูกค้า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017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73C9"/>
                </a:solidFill>
              </a:rPr>
              <a:t>ขั้น 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3832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สั่งน้ำ แจ้งถุงคืน แนบสลิป ดู OTP</a:t>
            </a:r>
            <a:endParaRPr lang="en-US" sz="1400" dirty="0"/>
          </a:p>
        </p:txBody>
      </p:sp>
      <p:sp>
        <p:nvSpPr>
          <p:cNvPr id="10" name="role-card-1"/>
          <p:cNvSpPr/>
          <p:nvPr/>
        </p:nvSpPr>
        <p:spPr>
          <a:xfrm>
            <a:off x="2560320" y="1188720"/>
            <a:ext cx="1874520" cy="3246120"/>
          </a:xfrm>
          <a:prstGeom prst="roundRect">
            <a:avLst>
              <a:gd name="adj" fmla="val 5854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11" name="role-icon-1-bg"/>
          <p:cNvSpPr/>
          <p:nvPr/>
        </p:nvSpPr>
        <p:spPr>
          <a:xfrm>
            <a:off x="2788920" y="1463040"/>
            <a:ext cx="731520" cy="731520"/>
          </a:xfrm>
          <a:prstGeom prst="ellipse">
            <a:avLst/>
          </a:prstGeom>
          <a:solidFill>
            <a:srgbClr val="2FB67C"/>
          </a:solidFill>
          <a:ln w="12700">
            <a:solidFill>
              <a:srgbClr val="2FB67C"/>
            </a:solidFill>
            <a:prstDash val="solid"/>
          </a:ln>
        </p:spPr>
      </p:sp>
      <p:pic>
        <p:nvPicPr>
          <p:cNvPr id="12" name="role-icon-1" descr="MdWarehou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854" y="1623974"/>
            <a:ext cx="409651" cy="40965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788920" y="23317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คลังสินค้า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2788920" y="27249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</a:rPr>
              <a:t>แท็บ 2/8. คลัง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2788920" y="3017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B67C"/>
                </a:solidFill>
              </a:rPr>
              <a:t>ขั้น 2, 8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2788920" y="33832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รับออเดอร์ มอบหมายไรเดอร์ นับถุงคืน</a:t>
            </a:r>
            <a:endParaRPr lang="en-US" sz="1400" dirty="0"/>
          </a:p>
        </p:txBody>
      </p:sp>
      <p:sp>
        <p:nvSpPr>
          <p:cNvPr id="17" name="role-card-2"/>
          <p:cNvSpPr/>
          <p:nvPr/>
        </p:nvSpPr>
        <p:spPr>
          <a:xfrm>
            <a:off x="4663440" y="1188720"/>
            <a:ext cx="1874520" cy="3246120"/>
          </a:xfrm>
          <a:prstGeom prst="roundRect">
            <a:avLst>
              <a:gd name="adj" fmla="val 5854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18" name="role-icon-2-bg"/>
          <p:cNvSpPr/>
          <p:nvPr/>
        </p:nvSpPr>
        <p:spPr>
          <a:xfrm>
            <a:off x="4892040" y="1463040"/>
            <a:ext cx="731520" cy="7315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9" name="role-icon-2" descr="MdTwoWheel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974" y="1623974"/>
            <a:ext cx="409651" cy="409651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892040" y="23317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ไรเดอร์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4892040" y="27249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</a:rPr>
              <a:t>แท็บ 3–7. ไรเดอร์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4892040" y="3017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</a:rPr>
              <a:t>ขั้น 3–7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4892040" y="33832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กดน้ำ รับสินค้า วิ่งส่ง ยืนยันส่ง รับถุง</a:t>
            </a:r>
            <a:endParaRPr lang="en-US" sz="1400" dirty="0"/>
          </a:p>
        </p:txBody>
      </p:sp>
      <p:sp>
        <p:nvSpPr>
          <p:cNvPr id="24" name="role-card-3"/>
          <p:cNvSpPr/>
          <p:nvPr/>
        </p:nvSpPr>
        <p:spPr>
          <a:xfrm>
            <a:off x="6766560" y="1188720"/>
            <a:ext cx="1874520" cy="3246120"/>
          </a:xfrm>
          <a:prstGeom prst="roundRect">
            <a:avLst>
              <a:gd name="adj" fmla="val 5854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25" name="role-icon-3-bg"/>
          <p:cNvSpPr/>
          <p:nvPr/>
        </p:nvSpPr>
        <p:spPr>
          <a:xfrm>
            <a:off x="6995160" y="1463040"/>
            <a:ext cx="731520" cy="731520"/>
          </a:xfrm>
          <a:prstGeom prst="ellipse">
            <a:avLst/>
          </a:prstGeom>
          <a:solidFill>
            <a:srgbClr val="E84A7F"/>
          </a:solidFill>
          <a:ln w="12700">
            <a:solidFill>
              <a:srgbClr val="E84A7F"/>
            </a:solidFill>
            <a:prstDash val="solid"/>
          </a:ln>
        </p:spPr>
      </p:sp>
      <p:pic>
        <p:nvPicPr>
          <p:cNvPr id="26" name="role-icon-3" descr="MdAdminPanelSetting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6094" y="1623974"/>
            <a:ext cx="409651" cy="409651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995160" y="23317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แอดมิน</a:t>
            </a:r>
            <a:endParaRPr lang="en-US" sz="2000" dirty="0"/>
          </a:p>
        </p:txBody>
      </p:sp>
      <p:sp>
        <p:nvSpPr>
          <p:cNvPr id="28" name="Text 22"/>
          <p:cNvSpPr txBox="1"/>
          <p:nvPr/>
        </p:nvSpPr>
        <p:spPr>
          <a:xfrm>
            <a:off x="6995160" y="27249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</a:rPr>
              <a:t>แท็บ แอดมิน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6995160" y="3017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4A7F"/>
                </a:solidFill>
              </a:rPr>
              <a:t>ดูแลทุกขั้น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6995160" y="33832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อนุมัติสลิป ปลดล็อก OTP เคลียร์ถุง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Flow 8 ขั้น: ไม่มีถุงคืนจบหลังขั้น 6, มีถุงคืนไปต่อขั้น 7–8</a:t>
            </a:r>
            <a:endParaRPr lang="en-US" sz="2800" dirty="0"/>
          </a:p>
        </p:txBody>
      </p:sp>
      <p:pic>
        <p:nvPicPr>
          <p:cNvPr id="3" name="flow-image" descr="แผนภาพ Flow การทำงานระบบ Delivery 8 ขั้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005840"/>
            <a:ext cx="6583680" cy="3703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circle"/>
          <p:cNvSpPr/>
          <p:nvPr/>
        </p:nvSpPr>
        <p:spPr>
          <a:xfrm>
            <a:off x="548640" y="1783080"/>
            <a:ext cx="1188720" cy="1188720"/>
          </a:xfrm>
          <a:prstGeom prst="ellipse">
            <a:avLst/>
          </a:prstGeom>
          <a:solidFill>
            <a:srgbClr val="1A73C9"/>
          </a:solidFill>
          <a:ln w="12700">
            <a:solidFill>
              <a:srgbClr val="1A73C9"/>
            </a:solidFill>
            <a:prstDash val="solid"/>
          </a:ln>
        </p:spPr>
      </p:sp>
      <p:pic>
        <p:nvPicPr>
          <p:cNvPr id="3" name="section-icon" descr="ลูกค้า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640080" cy="64008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011680" y="17373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ส่วนที่ 1: ลูกค้า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011680" y="27432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0"/>
                </a:solidFill>
              </a:rPr>
              <a:t>ขั้นที่ 1 · สั่งน้ำ ชำระเงิน และติดตามสถานะ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สั่งน้ำเสร็จใน 5 ขั้น บนหน้าเดียว</a:t>
            </a:r>
            <a:endParaRPr lang="en-US" sz="2800" dirty="0"/>
          </a:p>
        </p:txBody>
      </p:sp>
      <p:sp>
        <p:nvSpPr>
          <p:cNvPr id="3" name="num-1"/>
          <p:cNvSpPr/>
          <p:nvPr/>
        </p:nvSpPr>
        <p:spPr>
          <a:xfrm>
            <a:off x="457200" y="1097280"/>
            <a:ext cx="457200" cy="457200"/>
          </a:xfrm>
          <a:prstGeom prst="ellipse">
            <a:avLst/>
          </a:prstGeom>
          <a:solidFill>
            <a:srgbClr val="1A73C9"/>
          </a:solidFill>
          <a:ln w="12700">
            <a:solidFill>
              <a:srgbClr val="1A73C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0789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ตรวจที่อยู่จัดส่ง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371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C93"/>
                </a:solidFill>
              </a:rPr>
              <a:t>ดูกล่องที่อยู่ "บ้าน" ด้านบนของหน้า</a:t>
            </a:r>
            <a:endParaRPr lang="en-US" sz="1300" dirty="0"/>
          </a:p>
        </p:txBody>
      </p:sp>
      <p:sp>
        <p:nvSpPr>
          <p:cNvPr id="7" name="num-2"/>
          <p:cNvSpPr/>
          <p:nvPr/>
        </p:nvSpPr>
        <p:spPr>
          <a:xfrm>
            <a:off x="457200" y="1810512"/>
            <a:ext cx="457200" cy="457200"/>
          </a:xfrm>
          <a:prstGeom prst="ellipse">
            <a:avLst/>
          </a:prstGeom>
          <a:solidFill>
            <a:srgbClr val="1A73C9"/>
          </a:solidFill>
          <a:ln w="12700">
            <a:solidFill>
              <a:srgbClr val="1A73C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7922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เลือกจำนวนสินค้า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0848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C93"/>
                </a:solidFill>
              </a:rPr>
              <a:t>กด − / + ที่น้ำถังหรือน้ำแพ็ก</a:t>
            </a:r>
            <a:endParaRPr lang="en-US" sz="1300" dirty="0"/>
          </a:p>
        </p:txBody>
      </p:sp>
      <p:sp>
        <p:nvSpPr>
          <p:cNvPr id="11" name="num-3"/>
          <p:cNvSpPr/>
          <p:nvPr/>
        </p:nvSpPr>
        <p:spPr>
          <a:xfrm>
            <a:off x="457200" y="2523744"/>
            <a:ext cx="457200" cy="457200"/>
          </a:xfrm>
          <a:prstGeom prst="ellipse">
            <a:avLst/>
          </a:prstGeom>
          <a:solidFill>
            <a:srgbClr val="1A73C9"/>
          </a:solidFill>
          <a:ln w="12700">
            <a:solidFill>
              <a:srgbClr val="1A73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523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50545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ตอบ "มีถุงคืนรอบนี้ไหม?"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7980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C93"/>
                </a:solidFill>
              </a:rPr>
              <a:t>เลือก มี แล้วระบุจำนวนถุง ไม่เกินถุงค้าง</a:t>
            </a:r>
            <a:endParaRPr lang="en-US" sz="1300" dirty="0"/>
          </a:p>
        </p:txBody>
      </p:sp>
      <p:sp>
        <p:nvSpPr>
          <p:cNvPr id="15" name="num-4"/>
          <p:cNvSpPr/>
          <p:nvPr/>
        </p:nvSpPr>
        <p:spPr>
          <a:xfrm>
            <a:off x="457200" y="3236976"/>
            <a:ext cx="457200" cy="457200"/>
          </a:xfrm>
          <a:prstGeom prst="ellipse">
            <a:avLst/>
          </a:prstGeom>
          <a:solidFill>
            <a:srgbClr val="1A73C9"/>
          </a:solidFill>
          <a:ln w="12700">
            <a:solidFill>
              <a:srgbClr val="1A73C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2186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เลือกวิธีชำระเงิน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5112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C93"/>
                </a:solidFill>
              </a:rPr>
              <a:t>เงินสดปลายทาง หรือ PromptPay</a:t>
            </a:r>
            <a:endParaRPr lang="en-US" sz="1300" dirty="0"/>
          </a:p>
        </p:txBody>
      </p:sp>
      <p:sp>
        <p:nvSpPr>
          <p:cNvPr id="19" name="num-5"/>
          <p:cNvSpPr/>
          <p:nvPr/>
        </p:nvSpPr>
        <p:spPr>
          <a:xfrm>
            <a:off x="457200" y="3950208"/>
            <a:ext cx="457200" cy="457200"/>
          </a:xfrm>
          <a:prstGeom prst="ellipse">
            <a:avLst/>
          </a:prstGeom>
          <a:solidFill>
            <a:srgbClr val="1A73C9"/>
          </a:solidFill>
          <a:ln w="12700">
            <a:solidFill>
              <a:srgbClr val="1A73C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39319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กด ยืนยันสั่งซื้อ (ขั้นที่ 1)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42245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C93"/>
                </a:solidFill>
              </a:rPr>
              <a:t>ระบบแสดงเลขออเดอร์ #DG-xxxx และรหัส OTP</a:t>
            </a:r>
            <a:endParaRPr lang="en-US" sz="1300" dirty="0"/>
          </a:p>
        </p:txBody>
      </p:sp>
      <p:sp>
        <p:nvSpPr>
          <p:cNvPr id="23" name="price-card"/>
          <p:cNvSpPr/>
          <p:nvPr/>
        </p:nvSpPr>
        <p:spPr>
          <a:xfrm>
            <a:off x="5577840" y="1097280"/>
            <a:ext cx="3108960" cy="3429000"/>
          </a:xfrm>
          <a:prstGeom prst="roundRect">
            <a:avLst>
              <a:gd name="adj" fmla="val 3529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852160" y="1280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7C93"/>
                </a:solidFill>
              </a:rPr>
              <a:t>ราคาสินค้า</a:t>
            </a:r>
            <a:endParaRPr lang="en-US" sz="1400" dirty="0"/>
          </a:p>
        </p:txBody>
      </p:sp>
      <p:sp>
        <p:nvSpPr>
          <p:cNvPr id="25" name="tank-icon-bg"/>
          <p:cNvSpPr/>
          <p:nvPr/>
        </p:nvSpPr>
        <p:spPr>
          <a:xfrm>
            <a:off x="5852160" y="1737360"/>
            <a:ext cx="548640" cy="548640"/>
          </a:xfrm>
          <a:prstGeom prst="ellipse">
            <a:avLst/>
          </a:prstGeom>
          <a:solidFill>
            <a:srgbClr val="1A73C9"/>
          </a:solidFill>
          <a:ln w="12700">
            <a:solidFill>
              <a:srgbClr val="1A73C9"/>
            </a:solidFill>
            <a:prstDash val="solid"/>
          </a:ln>
        </p:spPr>
      </p:sp>
      <p:pic>
        <p:nvPicPr>
          <p:cNvPr id="26" name="tank-icon" descr="MdWaterDr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2861" y="1858061"/>
            <a:ext cx="307238" cy="307238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6537960" y="16916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฿60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</a:rPr>
              <a:t>น้ำดื่มแบบถัง (มีถุงหมุนเวียน)</a:t>
            </a:r>
            <a:endParaRPr lang="en-US" sz="1400" dirty="0"/>
          </a:p>
        </p:txBody>
      </p:sp>
      <p:sp>
        <p:nvSpPr>
          <p:cNvPr id="28" name="pack-icon-bg"/>
          <p:cNvSpPr/>
          <p:nvPr/>
        </p:nvSpPr>
        <p:spPr>
          <a:xfrm>
            <a:off x="5852160" y="2697480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29" name="pack-icon" descr="MdInventory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861" y="2818181"/>
            <a:ext cx="307238" cy="307238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6537960" y="26517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฿55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</a:rPr>
              <a:t>น้ำดื่มแบบแพ็ก</a:t>
            </a:r>
            <a:endParaRPr lang="en-US" sz="1400" dirty="0"/>
          </a:p>
        </p:txBody>
      </p:sp>
      <p:sp>
        <p:nvSpPr>
          <p:cNvPr id="31" name="Text 27"/>
          <p:cNvSpPr txBox="1"/>
          <p:nvPr/>
        </p:nvSpPr>
        <p:spPr>
          <a:xfrm>
            <a:off x="5852160" y="37033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73C9"/>
                </a:solidFill>
              </a:rPr>
              <a:t>ตัวอย่าง: ถัง 2 + แพ็ก 1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73C9"/>
                </a:solidFill>
              </a:rPr>
              <a:t>= 2×60 + 55 = ฿175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หลังสั่งซื้อ ลูกค้าดูทุกอย่างได้ที่หน้าติดตามสถานะ</a:t>
            </a:r>
            <a:endParaRPr lang="en-US" sz="2800" dirty="0"/>
          </a:p>
        </p:txBody>
      </p:sp>
      <p:sp>
        <p:nvSpPr>
          <p:cNvPr id="3" name="after-card-0"/>
          <p:cNvSpPr/>
          <p:nvPr/>
        </p:nvSpPr>
        <p:spPr>
          <a:xfrm>
            <a:off x="457200" y="109728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4" name="after-icon-0-bg"/>
          <p:cNvSpPr/>
          <p:nvPr/>
        </p:nvSpPr>
        <p:spPr>
          <a:xfrm>
            <a:off x="685800" y="1371600"/>
            <a:ext cx="640080" cy="640080"/>
          </a:xfrm>
          <a:prstGeom prst="ellipse">
            <a:avLst/>
          </a:prstGeom>
          <a:solidFill>
            <a:srgbClr val="1A73C9"/>
          </a:solidFill>
          <a:ln w="12700">
            <a:solidFill>
              <a:srgbClr val="1A73C9"/>
            </a:solidFill>
            <a:prstDash val="solid"/>
          </a:ln>
        </p:spPr>
      </p:sp>
      <p:pic>
        <p:nvPicPr>
          <p:cNvPr id="5" name="after-icon-0" descr="MdP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8" y="1512418"/>
            <a:ext cx="358445" cy="3584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3258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รหัส OTP 4 หลัก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73736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กดปุ่ม ติดตามสถานะ / ดู OTP แล้วบอกรหัสไรเดอร์เมื่อได้รับน้ำแล้วเท่านั้น</a:t>
            </a:r>
            <a:endParaRPr lang="en-US" sz="1300" dirty="0"/>
          </a:p>
        </p:txBody>
      </p:sp>
      <p:sp>
        <p:nvSpPr>
          <p:cNvPr id="8" name="after-card-1"/>
          <p:cNvSpPr/>
          <p:nvPr/>
        </p:nvSpPr>
        <p:spPr>
          <a:xfrm>
            <a:off x="4663440" y="109728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9" name="after-icon-1-bg"/>
          <p:cNvSpPr/>
          <p:nvPr/>
        </p:nvSpPr>
        <p:spPr>
          <a:xfrm>
            <a:off x="4892040" y="1371600"/>
            <a:ext cx="640080" cy="640080"/>
          </a:xfrm>
          <a:prstGeom prst="ellipse">
            <a:avLst/>
          </a:prstGeom>
          <a:solidFill>
            <a:srgbClr val="2FB67C"/>
          </a:solidFill>
          <a:ln w="12700">
            <a:solidFill>
              <a:srgbClr val="2FB67C"/>
            </a:solidFill>
            <a:prstDash val="solid"/>
          </a:ln>
        </p:spPr>
      </p:sp>
      <p:pic>
        <p:nvPicPr>
          <p:cNvPr id="10" name="after-icon-1" descr="MdQrCode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858" y="1512418"/>
            <a:ext cx="358445" cy="35844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3258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จ่ายด้วย PromptPay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715000" y="173736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กด แนบสลิปโอนเงิน สถานะจะเป็น "รอแอดมินตรวจ" จนกว่าอนุมัติ</a:t>
            </a:r>
            <a:endParaRPr lang="en-US" sz="1300" dirty="0"/>
          </a:p>
        </p:txBody>
      </p:sp>
      <p:sp>
        <p:nvSpPr>
          <p:cNvPr id="13" name="after-card-2"/>
          <p:cNvSpPr/>
          <p:nvPr/>
        </p:nvSpPr>
        <p:spPr>
          <a:xfrm>
            <a:off x="457200" y="283464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14" name="after-icon-2-bg"/>
          <p:cNvSpPr/>
          <p:nvPr/>
        </p:nvSpPr>
        <p:spPr>
          <a:xfrm>
            <a:off x="685800" y="3108960"/>
            <a:ext cx="640080" cy="640080"/>
          </a:xfrm>
          <a:prstGeom prst="ellipse">
            <a:avLst/>
          </a:prstGeom>
          <a:solidFill>
            <a:srgbClr val="E84A7F"/>
          </a:solidFill>
          <a:ln w="12700">
            <a:solidFill>
              <a:srgbClr val="E84A7F"/>
            </a:solidFill>
            <a:prstDash val="solid"/>
          </a:ln>
        </p:spPr>
      </p:sp>
      <p:pic>
        <p:nvPicPr>
          <p:cNvPr id="15" name="after-icon-2" descr="MdCance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8" y="3249778"/>
            <a:ext cx="358445" cy="35844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30632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ยกเลิกคำสั่งซื้อ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508760" y="347472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ทำได้เฉพาะตอน PENDING (คลังยังไม่รับ) กด ยกเลิกคำสั่งซื้อนี้ ไม่มีถามยืนยัน</a:t>
            </a:r>
            <a:endParaRPr lang="en-US" sz="1300" dirty="0"/>
          </a:p>
        </p:txBody>
      </p:sp>
      <p:sp>
        <p:nvSpPr>
          <p:cNvPr id="18" name="after-card-3"/>
          <p:cNvSpPr/>
          <p:nvPr/>
        </p:nvSpPr>
        <p:spPr>
          <a:xfrm>
            <a:off x="4663440" y="283464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19" name="after-icon-3-bg"/>
          <p:cNvSpPr/>
          <p:nvPr/>
        </p:nvSpPr>
        <p:spPr>
          <a:xfrm>
            <a:off x="4892040" y="3108960"/>
            <a:ext cx="640080" cy="6400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20" name="after-icon-3" descr="MdRepla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858" y="3249778"/>
            <a:ext cx="358445" cy="35844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15000" y="30632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สั่งซ้ำ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5715000" y="347472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กดแล้วสร้างออเดอร์ใหม่ทันทีด้วยรายการเดิม ไม่มีถามยืนยัน กดเมื่อแน่ใจ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circle"/>
          <p:cNvSpPr/>
          <p:nvPr/>
        </p:nvSpPr>
        <p:spPr>
          <a:xfrm>
            <a:off x="548640" y="1783080"/>
            <a:ext cx="1188720" cy="1188720"/>
          </a:xfrm>
          <a:prstGeom prst="ellipse">
            <a:avLst/>
          </a:prstGeom>
          <a:solidFill>
            <a:srgbClr val="2FB67C"/>
          </a:solidFill>
          <a:ln w="12700">
            <a:solidFill>
              <a:srgbClr val="2FB67C"/>
            </a:solidFill>
            <a:prstDash val="solid"/>
          </a:ln>
        </p:spPr>
      </p:sp>
      <p:pic>
        <p:nvPicPr>
          <p:cNvPr id="3" name="section-icon" descr="คลั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640080" cy="64008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011680" y="17373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ส่วนที่ 2: คลังสินค้า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011680" y="27432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0"/>
                </a:solidFill>
              </a:rPr>
              <a:t>ขั้นที่ 2 รับออเดอร์ · ขั้นที่ 8 รับถุงคืนเข้าคลัง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ขั้นที่ 2: รับออเดอร์ แล้วมอบหมายไรเดอร์ทันที</a:t>
            </a:r>
            <a:endParaRPr lang="en-US" sz="2800" dirty="0"/>
          </a:p>
        </p:txBody>
      </p:sp>
      <p:sp>
        <p:nvSpPr>
          <p:cNvPr id="3" name="wh-card-0"/>
          <p:cNvSpPr/>
          <p:nvPr/>
        </p:nvSpPr>
        <p:spPr>
          <a:xfrm>
            <a:off x="457200" y="114300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4" name="wh-icon-0-bg"/>
          <p:cNvSpPr/>
          <p:nvPr/>
        </p:nvSpPr>
        <p:spPr>
          <a:xfrm>
            <a:off x="685800" y="1371600"/>
            <a:ext cx="640080" cy="640080"/>
          </a:xfrm>
          <a:prstGeom prst="ellipse">
            <a:avLst/>
          </a:prstGeom>
          <a:solidFill>
            <a:srgbClr val="2FB67C"/>
          </a:solidFill>
          <a:ln w="12700">
            <a:solidFill>
              <a:srgbClr val="2FB67C"/>
            </a:solidFill>
            <a:prstDash val="solid"/>
          </a:ln>
        </p:spPr>
      </p:sp>
      <p:pic>
        <p:nvPicPr>
          <p:cNvPr id="5" name="wh-icon-0" descr="MdInbo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8" y="1512418"/>
            <a:ext cx="358445" cy="3584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148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ออเดอร์ใหม่เข้า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6974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ป้าย PENDING พร้อมยอดเงิน วิธีจ่าย และถุงที่ลูกค้าแจ้งคืน</a:t>
            </a:r>
            <a:endParaRPr lang="en-US" sz="1300" dirty="0"/>
          </a:p>
        </p:txBody>
      </p:sp>
      <p:pic>
        <p:nvPicPr>
          <p:cNvPr id="8" name="wh-arrow-0" descr="ถัดไป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952" y="2148840"/>
            <a:ext cx="219456" cy="219456"/>
          </a:xfrm>
          <a:prstGeom prst="rect">
            <a:avLst/>
          </a:prstGeom>
        </p:spPr>
      </p:pic>
      <p:sp>
        <p:nvSpPr>
          <p:cNvPr id="9" name="wh-card-1"/>
          <p:cNvSpPr/>
          <p:nvPr/>
        </p:nvSpPr>
        <p:spPr>
          <a:xfrm>
            <a:off x="3291840" y="114300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10" name="wh-icon-1-bg"/>
          <p:cNvSpPr/>
          <p:nvPr/>
        </p:nvSpPr>
        <p:spPr>
          <a:xfrm>
            <a:off x="3520440" y="1371600"/>
            <a:ext cx="640080" cy="640080"/>
          </a:xfrm>
          <a:prstGeom prst="ellipse">
            <a:avLst/>
          </a:prstGeom>
          <a:solidFill>
            <a:srgbClr val="2FB67C"/>
          </a:solidFill>
          <a:ln w="12700">
            <a:solidFill>
              <a:srgbClr val="2FB67C"/>
            </a:solidFill>
            <a:prstDash val="solid"/>
          </a:ln>
        </p:spPr>
      </p:sp>
      <p:pic>
        <p:nvPicPr>
          <p:cNvPr id="11" name="wh-icon-1" descr="MdCheckCirc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1258" y="1512418"/>
            <a:ext cx="358445" cy="35844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20440" y="2148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กด ขั้นที่ 2: รับคำสั่งซื้อ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3520440" y="26974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ป้ายเปลี่ยนเป็น CONFIRMED ลูกค้ายกเลิกเองไม่ได้แล้ว</a:t>
            </a:r>
            <a:endParaRPr lang="en-US" sz="1300" dirty="0"/>
          </a:p>
        </p:txBody>
      </p:sp>
      <p:pic>
        <p:nvPicPr>
          <p:cNvPr id="14" name="wh-arrow-1" descr="ถัดไป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2148840"/>
            <a:ext cx="219456" cy="219456"/>
          </a:xfrm>
          <a:prstGeom prst="rect">
            <a:avLst/>
          </a:prstGeom>
        </p:spPr>
      </p:pic>
      <p:sp>
        <p:nvSpPr>
          <p:cNvPr id="15" name="wh-card-2"/>
          <p:cNvSpPr/>
          <p:nvPr/>
        </p:nvSpPr>
        <p:spPr>
          <a:xfrm>
            <a:off x="6126480" y="114300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16" name="wh-icon-2-bg"/>
          <p:cNvSpPr/>
          <p:nvPr/>
        </p:nvSpPr>
        <p:spPr>
          <a:xfrm>
            <a:off x="6355080" y="1371600"/>
            <a:ext cx="640080" cy="640080"/>
          </a:xfrm>
          <a:prstGeom prst="ellipse">
            <a:avLst/>
          </a:prstGeom>
          <a:solidFill>
            <a:srgbClr val="2FB67C"/>
          </a:solidFill>
          <a:ln w="12700">
            <a:solidFill>
              <a:srgbClr val="2FB67C"/>
            </a:solidFill>
            <a:prstDash val="solid"/>
          </a:ln>
        </p:spPr>
      </p:sp>
      <p:pic>
        <p:nvPicPr>
          <p:cNvPr id="17" name="wh-icon-2" descr="MdAssignmentIn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898" y="1512418"/>
            <a:ext cx="358445" cy="35844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355080" y="2148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เลือกไรเดอร์ → มอบหมายไรเดอร์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6355080" y="26974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งานขึ้นในแท็บไรเดอร์ทันที เปลี่ยนคนได้จนถึง PACKED</a:t>
            </a:r>
            <a:endParaRPr lang="en-US" sz="1300" dirty="0"/>
          </a:p>
        </p:txBody>
      </p:sp>
      <p:sp>
        <p:nvSpPr>
          <p:cNvPr id="20" name="wh-tip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21" name="wh-tip-icon-bg"/>
          <p:cNvSpPr/>
          <p:nvPr/>
        </p:nvSpPr>
        <p:spPr>
          <a:xfrm>
            <a:off x="640080" y="3877056"/>
            <a:ext cx="512064" cy="51206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22" name="wh-tip-icon" descr="MdTipsAndUpdat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734" y="3989710"/>
            <a:ext cx="286756" cy="28675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325880" y="3822192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คลังกดน้ำเองได้: กด "คลังกดจัดของแทนไรเดอร์ (ขั้นที่ 3 PACKED)" ปุ่มนี้กดได้แม้ยังไม่มีไรเดอร์ อย่าลืมมอบหมายไรเดอร์ตามหลัง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ขั้นที่ 8: นับถุงจริง แล้วระบบเทียบกับที่ไรเดอร์รับมา</a:t>
            </a:r>
            <a:endParaRPr lang="en-US" sz="2800" dirty="0"/>
          </a:p>
        </p:txBody>
      </p:sp>
      <p:sp>
        <p:nvSpPr>
          <p:cNvPr id="3" name="num-1"/>
          <p:cNvSpPr/>
          <p:nvPr/>
        </p:nvSpPr>
        <p:spPr>
          <a:xfrm>
            <a:off x="457200" y="1143000"/>
            <a:ext cx="420624" cy="420624"/>
          </a:xfrm>
          <a:prstGeom prst="ellipse">
            <a:avLst/>
          </a:prstGeom>
          <a:solidFill>
            <a:srgbClr val="2FB67C"/>
          </a:solidFill>
          <a:ln w="12700">
            <a:solidFill>
              <a:srgbClr val="2FB67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143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ไรเดอร์ส่งเสร็จ ออเดอร์ขึ้นป้าย BAG_COLLECTED</a:t>
            </a:r>
            <a:endParaRPr lang="en-US" sz="1400" dirty="0"/>
          </a:p>
        </p:txBody>
      </p:sp>
      <p:sp>
        <p:nvSpPr>
          <p:cNvPr id="6" name="num-2"/>
          <p:cNvSpPr/>
          <p:nvPr/>
        </p:nvSpPr>
        <p:spPr>
          <a:xfrm>
            <a:off x="457200" y="1801368"/>
            <a:ext cx="420624" cy="420624"/>
          </a:xfrm>
          <a:prstGeom prst="ellipse">
            <a:avLst/>
          </a:prstGeom>
          <a:solidFill>
            <a:srgbClr val="2FB67C"/>
          </a:solidFill>
          <a:ln w="12700">
            <a:solidFill>
              <a:srgbClr val="2FB67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01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013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นับถุงที่ไรเดอร์นำกลับมาจริง</a:t>
            </a:r>
            <a:endParaRPr lang="en-US" sz="1400" dirty="0"/>
          </a:p>
        </p:txBody>
      </p:sp>
      <p:sp>
        <p:nvSpPr>
          <p:cNvPr id="9" name="num-3"/>
          <p:cNvSpPr/>
          <p:nvPr/>
        </p:nvSpPr>
        <p:spPr>
          <a:xfrm>
            <a:off x="457200" y="2459736"/>
            <a:ext cx="420624" cy="420624"/>
          </a:xfrm>
          <a:prstGeom prst="ellipse">
            <a:avLst/>
          </a:prstGeom>
          <a:solidFill>
            <a:srgbClr val="2FB67C"/>
          </a:solidFill>
          <a:ln w="12700">
            <a:solidFill>
              <a:srgbClr val="2FB67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59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45973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แก้ช่อง "จำนวนถุงที่คลังนับได้จริง" ให้ตรงกับที่นับ</a:t>
            </a:r>
            <a:endParaRPr lang="en-US" sz="1400" dirty="0"/>
          </a:p>
        </p:txBody>
      </p:sp>
      <p:sp>
        <p:nvSpPr>
          <p:cNvPr id="12" name="num-4"/>
          <p:cNvSpPr/>
          <p:nvPr/>
        </p:nvSpPr>
        <p:spPr>
          <a:xfrm>
            <a:off x="457200" y="3118104"/>
            <a:ext cx="420624" cy="420624"/>
          </a:xfrm>
          <a:prstGeom prst="ellipse">
            <a:avLst/>
          </a:prstGeom>
          <a:solidFill>
            <a:srgbClr val="2FB67C"/>
          </a:solidFill>
          <a:ln w="12700">
            <a:solidFill>
              <a:srgbClr val="2FB67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118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11810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กด ยืนยันการส่งคืนถุง</a:t>
            </a:r>
            <a:endParaRPr lang="en-US" sz="1400" dirty="0"/>
          </a:p>
        </p:txBody>
      </p:sp>
      <p:sp>
        <p:nvSpPr>
          <p:cNvPr id="15" name="bag-match"/>
          <p:cNvSpPr/>
          <p:nvPr/>
        </p:nvSpPr>
        <p:spPr>
          <a:xfrm>
            <a:off x="4846320" y="1097280"/>
            <a:ext cx="3840480" cy="1417320"/>
          </a:xfrm>
          <a:prstGeom prst="roundRect">
            <a:avLst>
              <a:gd name="adj" fmla="val 7742"/>
            </a:avLst>
          </a:prstGeom>
          <a:solidFill>
            <a:srgbClr val="E3F6EC"/>
          </a:solidFill>
          <a:ln w="12700">
            <a:solidFill>
              <a:srgbClr val="E3F6EC"/>
            </a:solidFill>
            <a:prstDash val="solid"/>
          </a:ln>
        </p:spPr>
      </p:sp>
      <p:sp>
        <p:nvSpPr>
          <p:cNvPr id="16" name="bag-match-icon-bg"/>
          <p:cNvSpPr/>
          <p:nvPr/>
        </p:nvSpPr>
        <p:spPr>
          <a:xfrm>
            <a:off x="5029200" y="1280160"/>
            <a:ext cx="548640" cy="548640"/>
          </a:xfrm>
          <a:prstGeom prst="ellipse">
            <a:avLst/>
          </a:prstGeom>
          <a:solidFill>
            <a:srgbClr val="2FB67C"/>
          </a:solidFill>
          <a:ln w="12700">
            <a:solidFill>
              <a:srgbClr val="2FB67C"/>
            </a:solidFill>
            <a:prstDash val="solid"/>
          </a:ln>
        </p:spPr>
      </p:sp>
      <p:pic>
        <p:nvPicPr>
          <p:cNvPr id="17" name="bag-match-icon" descr="MdTask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9901" y="1400861"/>
            <a:ext cx="307238" cy="307238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5760720" y="1261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ยอดตรงกัน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760720" y="1645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ปิดงานอัตโนมัติ CLOSED_WITH_RETURN</a:t>
            </a:r>
            <a:endParaRPr lang="en-US" sz="1300" dirty="0"/>
          </a:p>
        </p:txBody>
      </p:sp>
      <p:sp>
        <p:nvSpPr>
          <p:cNvPr id="20" name="bag-mismatch"/>
          <p:cNvSpPr/>
          <p:nvPr/>
        </p:nvSpPr>
        <p:spPr>
          <a:xfrm>
            <a:off x="4846320" y="2697480"/>
            <a:ext cx="3840480" cy="1417320"/>
          </a:xfrm>
          <a:prstGeom prst="roundRect">
            <a:avLst>
              <a:gd name="adj" fmla="val 7742"/>
            </a:avLst>
          </a:prstGeom>
          <a:solidFill>
            <a:srgbClr val="FDE7EF"/>
          </a:solidFill>
          <a:ln w="12700">
            <a:solidFill>
              <a:srgbClr val="FDE7EF"/>
            </a:solidFill>
            <a:prstDash val="solid"/>
          </a:ln>
        </p:spPr>
      </p:sp>
      <p:sp>
        <p:nvSpPr>
          <p:cNvPr id="21" name="bag-mismatch-icon-bg"/>
          <p:cNvSpPr/>
          <p:nvPr/>
        </p:nvSpPr>
        <p:spPr>
          <a:xfrm>
            <a:off x="5029200" y="2880360"/>
            <a:ext cx="548640" cy="548640"/>
          </a:xfrm>
          <a:prstGeom prst="ellipse">
            <a:avLst/>
          </a:prstGeom>
          <a:solidFill>
            <a:srgbClr val="E84A7F"/>
          </a:solidFill>
          <a:ln w="12700">
            <a:solidFill>
              <a:srgbClr val="E84A7F"/>
            </a:solidFill>
            <a:prstDash val="solid"/>
          </a:ln>
        </p:spPr>
      </p:sp>
      <p:pic>
        <p:nvPicPr>
          <p:cNvPr id="22" name="bag-mismatch-icon" descr="MdReportProble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9901" y="3001061"/>
            <a:ext cx="307238" cy="307238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760720" y="2862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ยอดไม่ตรง</a:t>
            </a:r>
            <a:endParaRPr lang="en-US" sz="1700" dirty="0"/>
          </a:p>
        </p:txBody>
      </p:sp>
      <p:sp>
        <p:nvSpPr>
          <p:cNvPr id="24" name="Text 20"/>
          <p:cNvSpPr txBox="1"/>
          <p:nvPr/>
        </p:nvSpPr>
        <p:spPr>
          <a:xfrm>
            <a:off x="5760720" y="32461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เป็น BAG_RETURNED แล้วส่งให้แอดมินเคลียร์ยอด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457200" y="39776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4A7F"/>
                </a:solidFill>
              </a:rPr>
              <a:t>ระวัง: ช่องนับถุงเติมค่าเริ่มต้นเป็นจำนวนที่ลูกค้าแจ้ง ไม่ใช่ที่ไรเดอร์รับจริง ต้องแก้ทุกครั้ง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circle"/>
          <p:cNvSpPr/>
          <p:nvPr/>
        </p:nvSpPr>
        <p:spPr>
          <a:xfrm>
            <a:off x="548640" y="1783080"/>
            <a:ext cx="1188720" cy="11887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3" name="section-icon" descr="ไรเดอร์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640080" cy="64008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011680" y="17373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ส่วนที่ 3: ไรเดอร์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011680" y="27432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0"/>
                </a:solidFill>
              </a:rPr>
              <a:t>ขั้นที่ 3–7 · จากกดน้ำจนรับถุงคืน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ทำทีละงาน: กดตามปุ่มใหญ่บนการ์ดงานทุกครั้ง</a:t>
            </a:r>
            <a:endParaRPr lang="en-US" sz="2800" dirty="0"/>
          </a:p>
        </p:txBody>
      </p:sp>
      <p:sp>
        <p:nvSpPr>
          <p:cNvPr id="3" name="rider-home"/>
          <p:cNvSpPr/>
          <p:nvPr/>
        </p:nvSpPr>
        <p:spPr>
          <a:xfrm>
            <a:off x="457200" y="1097280"/>
            <a:ext cx="3291840" cy="3429000"/>
          </a:xfrm>
          <a:prstGeom prst="roundRect">
            <a:avLst>
              <a:gd name="adj" fmla="val 3333"/>
            </a:avLst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หน้า "งานวันนี้"</a:t>
            </a:r>
            <a:endParaRPr lang="en-US" sz="1600" dirty="0"/>
          </a:p>
        </p:txBody>
      </p:sp>
      <p:sp>
        <p:nvSpPr>
          <p:cNvPr id="5" name="tile-0"/>
          <p:cNvSpPr/>
          <p:nvPr/>
        </p:nvSpPr>
        <p:spPr>
          <a:xfrm>
            <a:off x="685800" y="1783080"/>
            <a:ext cx="2834640" cy="512064"/>
          </a:xfrm>
          <a:prstGeom prst="roundRect">
            <a:avLst>
              <a:gd name="adj" fmla="val 14286"/>
            </a:avLst>
          </a:prstGeom>
          <a:solidFill>
            <a:srgbClr val="1E4570"/>
          </a:solidFill>
          <a:ln w="12700">
            <a:solidFill>
              <a:srgbClr val="1E45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78308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งานค้าง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178308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B3D9"/>
                </a:solidFill>
              </a:rPr>
              <a:t>จำนวนงาน</a:t>
            </a:r>
            <a:endParaRPr lang="en-US" sz="1200" dirty="0"/>
          </a:p>
        </p:txBody>
      </p:sp>
      <p:sp>
        <p:nvSpPr>
          <p:cNvPr id="8" name="tile-1"/>
          <p:cNvSpPr/>
          <p:nvPr/>
        </p:nvSpPr>
        <p:spPr>
          <a:xfrm>
            <a:off x="685800" y="2404872"/>
            <a:ext cx="2834640" cy="512064"/>
          </a:xfrm>
          <a:prstGeom prst="roundRect">
            <a:avLst>
              <a:gd name="adj" fmla="val 14286"/>
            </a:avLst>
          </a:prstGeom>
          <a:solidFill>
            <a:srgbClr val="1E4570"/>
          </a:solidFill>
          <a:ln w="12700">
            <a:solidFill>
              <a:srgbClr val="1E45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404872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ถุงที่ต้องรับ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2404872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B3D9"/>
                </a:solidFill>
              </a:rPr>
              <a:t>ใบ</a:t>
            </a:r>
            <a:endParaRPr lang="en-US" sz="1200" dirty="0"/>
          </a:p>
        </p:txBody>
      </p:sp>
      <p:sp>
        <p:nvSpPr>
          <p:cNvPr id="11" name="tile-2"/>
          <p:cNvSpPr/>
          <p:nvPr/>
        </p:nvSpPr>
        <p:spPr>
          <a:xfrm>
            <a:off x="685800" y="3026664"/>
            <a:ext cx="2834640" cy="512064"/>
          </a:xfrm>
          <a:prstGeom prst="roundRect">
            <a:avLst>
              <a:gd name="adj" fmla="val 14286"/>
            </a:avLst>
          </a:prstGeom>
          <a:solidFill>
            <a:srgbClr val="1E4570"/>
          </a:solidFill>
          <a:ln w="12700">
            <a:solidFill>
              <a:srgbClr val="1E457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3026664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เก็บเงินสด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514600" y="3026664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B3D9"/>
                </a:solidFill>
              </a:rPr>
              <a:t>บาท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6576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0"/>
                </a:solidFill>
              </a:rPr>
              <a:t>การ์ดงานมีปุ่ม นำทาง (Google Maps) และ โทรหาลูกค้า งานถัดไปเปิดได้เมื่องานปัจจุบันเสร็จ</a:t>
            </a:r>
            <a:endParaRPr lang="en-US" sz="1200" dirty="0"/>
          </a:p>
        </p:txBody>
      </p:sp>
      <p:sp>
        <p:nvSpPr>
          <p:cNvPr id="15" name="num-3"/>
          <p:cNvSpPr/>
          <p:nvPr/>
        </p:nvSpPr>
        <p:spPr>
          <a:xfrm>
            <a:off x="4114800" y="118872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117043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กดน้ำ / จัดเตรียม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155448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กด "ขั้นที่ 3: กดน้ำเสร็จแล้ว (PACKED)"</a:t>
            </a:r>
            <a:endParaRPr lang="en-US" sz="1300" dirty="0"/>
          </a:p>
        </p:txBody>
      </p:sp>
      <p:sp>
        <p:nvSpPr>
          <p:cNvPr id="19" name="num-4"/>
          <p:cNvSpPr/>
          <p:nvPr/>
        </p:nvSpPr>
        <p:spPr>
          <a:xfrm>
            <a:off x="4114800" y="228600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1480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226771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ยืนยันรับสินค้า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800600" y="265176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ถ่ายรูปสินค้าบนรถ (บังคับ) แล้วกด ยืนยันรับสินค้า</a:t>
            </a:r>
            <a:endParaRPr lang="en-US" sz="1300" dirty="0"/>
          </a:p>
        </p:txBody>
      </p:sp>
      <p:sp>
        <p:nvSpPr>
          <p:cNvPr id="23" name="num-5"/>
          <p:cNvSpPr/>
          <p:nvPr/>
        </p:nvSpPr>
        <p:spPr>
          <a:xfrm>
            <a:off x="4114800" y="338328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1480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4800600" y="336499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วิ่งส่งสินค้า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4800600" y="374904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ออกจากคลังแล้วกด "ขั้นที่ 5: เริ่มวิ่งส่งสินค้า"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ขั้นที่ 6–7: ยืนยันส่งต้องมีรูป + OTP + จำนวนถุงจริง</a:t>
            </a:r>
            <a:endParaRPr lang="en-US" sz="2800" dirty="0"/>
          </a:p>
        </p:txBody>
      </p:sp>
      <p:sp>
        <p:nvSpPr>
          <p:cNvPr id="3" name="dv-card-0"/>
          <p:cNvSpPr/>
          <p:nvPr/>
        </p:nvSpPr>
        <p:spPr>
          <a:xfrm>
            <a:off x="457200" y="1097280"/>
            <a:ext cx="2560320" cy="2331720"/>
          </a:xfrm>
          <a:prstGeom prst="roundRect">
            <a:avLst>
              <a:gd name="adj" fmla="val 4706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4" name="dv-icon-0-bg"/>
          <p:cNvSpPr/>
          <p:nvPr/>
        </p:nvSpPr>
        <p:spPr>
          <a:xfrm>
            <a:off x="685800" y="1325880"/>
            <a:ext cx="685800" cy="6858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5" name="dv-icon-0" descr="MdPhotoCam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" y="147675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148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1. รูปหลักฐานการส่ง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5603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ถ่ายรูปสินค้าที่ส่งถึงมือลูกค้า ระบบเช็กระยะ GPS ให้</a:t>
            </a:r>
            <a:endParaRPr lang="en-US" sz="1300" dirty="0"/>
          </a:p>
        </p:txBody>
      </p:sp>
      <p:sp>
        <p:nvSpPr>
          <p:cNvPr id="8" name="dv-card-1"/>
          <p:cNvSpPr/>
          <p:nvPr/>
        </p:nvSpPr>
        <p:spPr>
          <a:xfrm>
            <a:off x="3291840" y="1097280"/>
            <a:ext cx="2560320" cy="2331720"/>
          </a:xfrm>
          <a:prstGeom prst="roundRect">
            <a:avLst>
              <a:gd name="adj" fmla="val 4706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9" name="dv-icon-1-bg"/>
          <p:cNvSpPr/>
          <p:nvPr/>
        </p:nvSpPr>
        <p:spPr>
          <a:xfrm>
            <a:off x="3520440" y="1325880"/>
            <a:ext cx="685800" cy="6858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0" name="dv-icon-1" descr="MdP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16" y="147675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2148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2. OTP 4 หลัก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25603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ขอรหัสจากลูกค้า พิมพ์ช้า ๆ ทีละหลัก</a:t>
            </a:r>
            <a:endParaRPr lang="en-US" sz="1300" dirty="0"/>
          </a:p>
        </p:txBody>
      </p:sp>
      <p:sp>
        <p:nvSpPr>
          <p:cNvPr id="13" name="dv-card-2"/>
          <p:cNvSpPr/>
          <p:nvPr/>
        </p:nvSpPr>
        <p:spPr>
          <a:xfrm>
            <a:off x="6126480" y="1097280"/>
            <a:ext cx="2560320" cy="2331720"/>
          </a:xfrm>
          <a:prstGeom prst="roundRect">
            <a:avLst>
              <a:gd name="adj" fmla="val 4706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14" name="dv-icon-2-bg"/>
          <p:cNvSpPr/>
          <p:nvPr/>
        </p:nvSpPr>
        <p:spPr>
          <a:xfrm>
            <a:off x="6355080" y="1325880"/>
            <a:ext cx="685800" cy="6858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5" name="dv-icon-2" descr="MdRecycl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956" y="1476756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55080" y="2148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3. ถุงคืน (ขั้น 7)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355080" y="25603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ใส่จำนวนที่รับจริง ถ้ามากกว่า 0 ต้องถ่ายรูปถุงด้วย</a:t>
            </a:r>
            <a:endParaRPr lang="en-US" sz="1300" dirty="0"/>
          </a:p>
        </p:txBody>
      </p:sp>
      <p:sp>
        <p:nvSpPr>
          <p:cNvPr id="18" name="dv-button"/>
          <p:cNvSpPr/>
          <p:nvPr/>
        </p:nvSpPr>
        <p:spPr>
          <a:xfrm>
            <a:off x="457200" y="361188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85800" y="37033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3D9"/>
                </a:solidFill>
              </a:rPr>
              <a:t>กดปุ่มเขียว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2103120" y="37033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"ยืนยันส่งสำเร็จ (ไม่มีถุงคืน)"  หรือ  "ยืนยันส่งสำเร็จ และรับถุง N ใบ"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ส่งไม่สำเร็จหรือ OTP ถูกล็อก มีขั้นตอนรองรับ</a:t>
            </a:r>
            <a:endParaRPr lang="en-US" sz="2800" dirty="0"/>
          </a:p>
        </p:txBody>
      </p:sp>
      <p:sp>
        <p:nvSpPr>
          <p:cNvPr id="3" name="fail-card"/>
          <p:cNvSpPr/>
          <p:nvPr/>
        </p:nvSpPr>
        <p:spPr>
          <a:xfrm>
            <a:off x="457200" y="1097280"/>
            <a:ext cx="3977640" cy="3429000"/>
          </a:xfrm>
          <a:prstGeom prst="roundRect">
            <a:avLst>
              <a:gd name="adj" fmla="val 3200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4" name="fail-icon-bg"/>
          <p:cNvSpPr/>
          <p:nvPr/>
        </p:nvSpPr>
        <p:spPr>
          <a:xfrm>
            <a:off x="685800" y="1280160"/>
            <a:ext cx="594360" cy="594360"/>
          </a:xfrm>
          <a:prstGeom prst="ellipse">
            <a:avLst/>
          </a:prstGeom>
          <a:solidFill>
            <a:srgbClr val="E84A7F"/>
          </a:solidFill>
          <a:ln w="12700">
            <a:solidFill>
              <a:srgbClr val="E84A7F"/>
            </a:solidFill>
            <a:prstDash val="solid"/>
          </a:ln>
        </p:spPr>
      </p:sp>
      <p:pic>
        <p:nvPicPr>
          <p:cNvPr id="5" name="fail-icon" descr="MdDoNotDisturb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41091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ส่งไม่สำเร็จ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0574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กดลิงก์ ส่งไม่สำเร็จ แจ้งเหตุผล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แก้สาเหตุ (ค่าเริ่มต้น: ลูกค้าไม่อยู่ / ติดต่อไม่ได้)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ถ่ายรูปหน้าบ้านเป็นหลักฐาน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กด ยืนยันส่งไม่สำเร็จ → แอดมินนัดส่งใหม่</a:t>
            </a:r>
            <a:endParaRPr lang="en-US" sz="1400" dirty="0"/>
          </a:p>
        </p:txBody>
      </p:sp>
      <p:sp>
        <p:nvSpPr>
          <p:cNvPr id="8" name="lock-card"/>
          <p:cNvSpPr/>
          <p:nvPr/>
        </p:nvSpPr>
        <p:spPr>
          <a:xfrm>
            <a:off x="4709160" y="1097280"/>
            <a:ext cx="3977640" cy="3429000"/>
          </a:xfrm>
          <a:prstGeom prst="roundRect">
            <a:avLst>
              <a:gd name="adj" fmla="val 3200"/>
            </a:avLst>
          </a:prstGeom>
          <a:solidFill>
            <a:srgbClr val="FDE7EF"/>
          </a:solidFill>
          <a:ln w="12700">
            <a:solidFill>
              <a:srgbClr val="FDE7EF"/>
            </a:solidFill>
            <a:prstDash val="solid"/>
          </a:ln>
        </p:spPr>
      </p:sp>
      <p:sp>
        <p:nvSpPr>
          <p:cNvPr id="9" name="lock-icon-bg"/>
          <p:cNvSpPr/>
          <p:nvPr/>
        </p:nvSpPr>
        <p:spPr>
          <a:xfrm>
            <a:off x="4937760" y="1280160"/>
            <a:ext cx="594360" cy="594360"/>
          </a:xfrm>
          <a:prstGeom prst="ellipse">
            <a:avLst/>
          </a:prstGeom>
          <a:solidFill>
            <a:srgbClr val="E84A7F"/>
          </a:solidFill>
          <a:ln w="12700">
            <a:solidFill>
              <a:srgbClr val="E84A7F"/>
            </a:solidFill>
            <a:prstDash val="solid"/>
          </a:ln>
        </p:spPr>
      </p:sp>
      <p:pic>
        <p:nvPicPr>
          <p:cNvPr id="10" name="lock-icon" descr="Md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519" y="141091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3716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OTP ผิดเกิน 5 ครั้ง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0116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E84A7F"/>
                </a:solidFill>
              </a:rPr>
              <a:t>5</a:t>
            </a:r>
            <a:endParaRPr lang="en-US" sz="6000" dirty="0"/>
          </a:p>
        </p:txBody>
      </p:sp>
      <p:sp>
        <p:nvSpPr>
          <p:cNvPr id="13" name="Text 9"/>
          <p:cNvSpPr txBox="1"/>
          <p:nvPr/>
        </p:nvSpPr>
        <p:spPr>
          <a:xfrm>
            <a:off x="5943600" y="22402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ครั้ง แล้วออเดอร์ถูกล็อก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937760" y="310896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โทรแจ้งแอดมินให้กด ปลดล็อก OTP แล้วขอรหัสจากลูกค้าใหม่ ตรวจเลขออเดอร์ให้ตรงก่อนกรอก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circle"/>
          <p:cNvSpPr/>
          <p:nvPr/>
        </p:nvSpPr>
        <p:spPr>
          <a:xfrm>
            <a:off x="548640" y="1783080"/>
            <a:ext cx="1188720" cy="1188720"/>
          </a:xfrm>
          <a:prstGeom prst="ellipse">
            <a:avLst/>
          </a:prstGeom>
          <a:solidFill>
            <a:srgbClr val="E84A7F"/>
          </a:solidFill>
          <a:ln w="12700">
            <a:solidFill>
              <a:srgbClr val="E84A7F"/>
            </a:solidFill>
            <a:prstDash val="solid"/>
          </a:ln>
        </p:spPr>
      </p:sp>
      <p:pic>
        <p:nvPicPr>
          <p:cNvPr id="3" name="section-icon" descr="แอดมิ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640080" cy="64008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011680" y="17373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ส่วนที่ 4: แอดมิน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011680" y="27432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0"/>
                </a:solidFill>
              </a:rPr>
              <a:t>แก้ปัญหา 4 เรื่อง และดูประวัติทุกออเดอร์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ปุ่มแอดมิน 5 ปุ่ม ขึ้นตามสถานะของแต่ละออเดอร์</a:t>
            </a:r>
            <a:endParaRPr lang="en-US" sz="2800" dirty="0"/>
          </a:p>
        </p:txBody>
      </p:sp>
      <p:sp>
        <p:nvSpPr>
          <p:cNvPr id="3" name="adm-icon-0-bg"/>
          <p:cNvSpPr/>
          <p:nvPr/>
        </p:nvSpPr>
        <p:spPr>
          <a:xfrm>
            <a:off x="457200" y="1051560"/>
            <a:ext cx="548640" cy="548640"/>
          </a:xfrm>
          <a:prstGeom prst="ellipse">
            <a:avLst/>
          </a:prstGeom>
          <a:solidFill>
            <a:srgbClr val="E84A7F"/>
          </a:solidFill>
          <a:ln w="12700">
            <a:solidFill>
              <a:srgbClr val="E84A7F"/>
            </a:solidFill>
            <a:prstDash val="solid"/>
          </a:ln>
        </p:spPr>
      </p:sp>
      <p:pic>
        <p:nvPicPr>
          <p:cNvPr id="4" name="adm-icon-0" descr="MdReportProbl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1172261"/>
            <a:ext cx="307238" cy="30723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051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ยอดถุงคืนไม่ตรง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389120" y="10515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ใส่หมายเหตุ → ยืนยันเคลียร์ยอดถุงและปิดงาน</a:t>
            </a:r>
            <a:endParaRPr lang="en-US" sz="1400" dirty="0"/>
          </a:p>
        </p:txBody>
      </p:sp>
      <p:sp>
        <p:nvSpPr>
          <p:cNvPr id="7" name="adm-icon-1-bg"/>
          <p:cNvSpPr/>
          <p:nvPr/>
        </p:nvSpPr>
        <p:spPr>
          <a:xfrm>
            <a:off x="457200" y="1764792"/>
            <a:ext cx="548640" cy="548640"/>
          </a:xfrm>
          <a:prstGeom prst="ellipse">
            <a:avLst/>
          </a:prstGeom>
          <a:solidFill>
            <a:srgbClr val="2FB67C"/>
          </a:solidFill>
          <a:ln w="12700">
            <a:solidFill>
              <a:srgbClr val="2FB67C"/>
            </a:solidFill>
            <a:prstDash val="solid"/>
          </a:ln>
        </p:spPr>
      </p:sp>
      <p:pic>
        <p:nvPicPr>
          <p:cNvPr id="8" name="adm-icon-1" descr="MdVerifi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1" y="1885493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176479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อนุมัติสลิปโอนเงิน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4389120" y="176479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ออเดอร์ PromptPay ที่รอตรวจ → เปลี่ยนเป็น PAID</a:t>
            </a:r>
            <a:endParaRPr lang="en-US" sz="1400" dirty="0"/>
          </a:p>
        </p:txBody>
      </p:sp>
      <p:sp>
        <p:nvSpPr>
          <p:cNvPr id="11" name="adm-icon-2-bg"/>
          <p:cNvSpPr/>
          <p:nvPr/>
        </p:nvSpPr>
        <p:spPr>
          <a:xfrm>
            <a:off x="457200" y="2478024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2" name="adm-icon-2" descr="MdLockOp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1" y="2598725"/>
            <a:ext cx="307238" cy="30723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247802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ปลดล็อก OTP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4389120" y="247802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เมื่อไรเดอร์กรอกผิดเกิน 5 ครั้ง</a:t>
            </a:r>
            <a:endParaRPr lang="en-US" sz="1400" dirty="0"/>
          </a:p>
        </p:txBody>
      </p:sp>
      <p:sp>
        <p:nvSpPr>
          <p:cNvPr id="15" name="adm-icon-3-bg"/>
          <p:cNvSpPr/>
          <p:nvPr/>
        </p:nvSpPr>
        <p:spPr>
          <a:xfrm>
            <a:off x="457200" y="3191256"/>
            <a:ext cx="548640" cy="548640"/>
          </a:xfrm>
          <a:prstGeom prst="ellipse">
            <a:avLst/>
          </a:prstGeom>
          <a:solidFill>
            <a:srgbClr val="1A73C9"/>
          </a:solidFill>
          <a:ln w="12700">
            <a:solidFill>
              <a:srgbClr val="1A73C9"/>
            </a:solidFill>
            <a:prstDash val="solid"/>
          </a:ln>
        </p:spPr>
      </p:sp>
      <p:pic>
        <p:nvPicPr>
          <p:cNvPr id="16" name="adm-icon-3" descr="MdEventRepea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1" y="3311957"/>
            <a:ext cx="307238" cy="30723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88720" y="319125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นัดส่งใหม่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4389120" y="319125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ออเดอร์ส่งไม่สำเร็จ → กลับเป็น CONFIRMED</a:t>
            </a:r>
            <a:endParaRPr lang="en-US" sz="1400" dirty="0"/>
          </a:p>
        </p:txBody>
      </p:sp>
      <p:sp>
        <p:nvSpPr>
          <p:cNvPr id="19" name="adm-icon-4-bg"/>
          <p:cNvSpPr/>
          <p:nvPr/>
        </p:nvSpPr>
        <p:spPr>
          <a:xfrm>
            <a:off x="457200" y="3904488"/>
            <a:ext cx="548640" cy="548640"/>
          </a:xfrm>
          <a:prstGeom prst="ellipse">
            <a:avLst/>
          </a:prstGeom>
          <a:solidFill>
            <a:srgbClr val="6B7C93"/>
          </a:solidFill>
          <a:ln w="12700">
            <a:solidFill>
              <a:srgbClr val="6B7C93"/>
            </a:solidFill>
            <a:prstDash val="solid"/>
          </a:ln>
        </p:spPr>
      </p:sp>
      <p:pic>
        <p:nvPicPr>
          <p:cNvPr id="20" name="adm-icon-4" descr="MdHistor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901" y="4025189"/>
            <a:ext cx="307238" cy="30723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188720" y="39044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ดู Audit Trail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4389120" y="39044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ประวัติว่าใครเปลี่ยนสถานะอะไร พร้อมรูป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ตารางสถานะ: อ่านป้ายภาษาอังกฤษให้ออก</a:t>
            </a:r>
            <a:endParaRPr lang="en-US" sz="2800" dirty="0"/>
          </a:p>
        </p:txBody>
      </p:sp>
      <p:graphicFrame>
        <p:nvGraphicFramePr>
          <p:cNvPr id="17" name="statu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291840"/>
                <a:gridCol w="19202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สถานะ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ความหมาย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ใครเปลี่ยน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D5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PENDING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ลูกค้าสั่งแล้ว รอคลังรับ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ลูกค้า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D5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CONFIRMED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คลังรับออเดอร์แล้ว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คลัง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D5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PACKED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กดน้ำ / จัดของเสร็จ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ไรเดอร์ หรือ คลัง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D5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PICKED_UP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ไรเดอร์รับสินค้าขึ้นรถ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ไรเดอร์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D5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OUT_FOR_DELIVERY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กำลังวิ่งส่ง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ไรเดอร์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D5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DELIVERED / BAG_COLLECTED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ส่งถึงแล้ว / รับถุงคืนแล้ว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ไรเดอร์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D5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BAG_RETURNED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ถุงไม่ตรง รอแอดมิน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คลัง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D5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CLOSED / CLOSED_WITH_RETURN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ปิดงาน / ปิดงานพร้อมถุงคืน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ระบบ คลัง แอดมิน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D5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FAILED_DELIVERY / CANCELLED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ส่งไม่สำเร็จ / ลูกค้ายกเลิก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ไรเดอร์ / ลูกค้า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ข้อควรระวังจากการทดสอบ ก่อนใช้งานจริง</a:t>
            </a:r>
            <a:endParaRPr lang="en-US" sz="2800" dirty="0"/>
          </a:p>
        </p:txBody>
      </p:sp>
      <p:sp>
        <p:nvSpPr>
          <p:cNvPr id="3" name="warn-card-0"/>
          <p:cNvSpPr/>
          <p:nvPr/>
        </p:nvSpPr>
        <p:spPr>
          <a:xfrm>
            <a:off x="457200" y="109728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DE7EF"/>
          </a:solidFill>
          <a:ln w="12700">
            <a:solidFill>
              <a:srgbClr val="FDE7EF"/>
            </a:solidFill>
            <a:prstDash val="solid"/>
          </a:ln>
        </p:spPr>
      </p:sp>
      <p:sp>
        <p:nvSpPr>
          <p:cNvPr id="4" name="warn-icon-0-bg"/>
          <p:cNvSpPr/>
          <p:nvPr/>
        </p:nvSpPr>
        <p:spPr>
          <a:xfrm>
            <a:off x="685800" y="1371600"/>
            <a:ext cx="640080" cy="640080"/>
          </a:xfrm>
          <a:prstGeom prst="ellipse">
            <a:avLst/>
          </a:prstGeom>
          <a:solidFill>
            <a:srgbClr val="E84A7F"/>
          </a:solidFill>
          <a:ln w="12700">
            <a:solidFill>
              <a:srgbClr val="E84A7F"/>
            </a:solidFill>
            <a:prstDash val="solid"/>
          </a:ln>
        </p:spPr>
      </p:sp>
      <p:pic>
        <p:nvPicPr>
          <p:cNvPr id="5" name="warn-icon-0" descr="MdPaym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8" y="1512418"/>
            <a:ext cx="358445" cy="3584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3258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แอดมิน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73736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ตรวจยอดโอนเข้าบัญชีก่อนกดอนุมัติสลิป ระบบยังปิดงานได้แม้สลิปยังไม่อนุมัติ</a:t>
            </a:r>
            <a:endParaRPr lang="en-US" sz="1300" dirty="0"/>
          </a:p>
        </p:txBody>
      </p:sp>
      <p:sp>
        <p:nvSpPr>
          <p:cNvPr id="8" name="warn-card-1"/>
          <p:cNvSpPr/>
          <p:nvPr/>
        </p:nvSpPr>
        <p:spPr>
          <a:xfrm>
            <a:off x="4663440" y="109728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9" name="warn-icon-1-bg"/>
          <p:cNvSpPr/>
          <p:nvPr/>
        </p:nvSpPr>
        <p:spPr>
          <a:xfrm>
            <a:off x="4892040" y="1371600"/>
            <a:ext cx="640080" cy="64008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pic>
        <p:nvPicPr>
          <p:cNvPr id="10" name="warn-icon-1" descr="MdInvento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858" y="1512418"/>
            <a:ext cx="358445" cy="35844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3258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คลัง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715000" y="173736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แก้จำนวนถุงให้ตรงกับที่นับได้จริง อย่ากดตามค่าที่ระบบเติมให้</a:t>
            </a:r>
            <a:endParaRPr lang="en-US" sz="1300" dirty="0"/>
          </a:p>
        </p:txBody>
      </p:sp>
      <p:sp>
        <p:nvSpPr>
          <p:cNvPr id="13" name="warn-card-2"/>
          <p:cNvSpPr/>
          <p:nvPr/>
        </p:nvSpPr>
        <p:spPr>
          <a:xfrm>
            <a:off x="457200" y="283464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14" name="warn-icon-2-bg"/>
          <p:cNvSpPr/>
          <p:nvPr/>
        </p:nvSpPr>
        <p:spPr>
          <a:xfrm>
            <a:off x="685800" y="3108960"/>
            <a:ext cx="640080" cy="64008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pic>
        <p:nvPicPr>
          <p:cNvPr id="15" name="warn-icon-2" descr="MdKeyboa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8" y="3249778"/>
            <a:ext cx="358445" cy="35844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30632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ไรเดอร์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508760" y="347472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พิมพ์ OTP ทีละหลักช้า ๆ และใส่จำนวนถุงตามจริงเสมอ</a:t>
            </a:r>
            <a:endParaRPr lang="en-US" sz="1300" dirty="0"/>
          </a:p>
        </p:txBody>
      </p:sp>
      <p:sp>
        <p:nvSpPr>
          <p:cNvPr id="18" name="warn-card-3"/>
          <p:cNvSpPr/>
          <p:nvPr/>
        </p:nvSpPr>
        <p:spPr>
          <a:xfrm>
            <a:off x="4663440" y="283464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19" name="warn-icon-3-bg"/>
          <p:cNvSpPr/>
          <p:nvPr/>
        </p:nvSpPr>
        <p:spPr>
          <a:xfrm>
            <a:off x="4892040" y="3108960"/>
            <a:ext cx="640080" cy="640080"/>
          </a:xfrm>
          <a:prstGeom prst="ellipse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pic>
        <p:nvPicPr>
          <p:cNvPr id="20" name="warn-icon-3" descr="MdTouchAp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858" y="3249778"/>
            <a:ext cx="358445" cy="35844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15000" y="30632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ลูกค้า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5715000" y="347472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ปุ่มสั่งซ้ำและยกเลิกทำงานทันที ไม่มีถามยืนยัน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แบบทดสอบท้ายการอบรม</a:t>
            </a:r>
            <a:endParaRPr lang="en-US" sz="2800" dirty="0"/>
          </a:p>
        </p:txBody>
      </p:sp>
      <p:sp>
        <p:nvSpPr>
          <p:cNvPr id="3" name="quiz-icon-0-bg"/>
          <p:cNvSpPr/>
          <p:nvPr/>
        </p:nvSpPr>
        <p:spPr>
          <a:xfrm>
            <a:off x="457200" y="1097280"/>
            <a:ext cx="457200" cy="457200"/>
          </a:xfrm>
          <a:prstGeom prst="ellipse">
            <a:avLst/>
          </a:prstGeom>
          <a:solidFill>
            <a:srgbClr val="1A73C9"/>
          </a:solidFill>
          <a:ln w="12700">
            <a:solidFill>
              <a:srgbClr val="1A73C9"/>
            </a:solidFill>
            <a:prstDash val="solid"/>
          </a:ln>
        </p:spPr>
      </p:sp>
      <p:pic>
        <p:nvPicPr>
          <p:cNvPr id="4" name="quiz-icon-0" descr="MdQuiz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197864"/>
            <a:ext cx="256032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05156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ลูกค้าควรบอก OTP ไรเดอร์ตอนไหน?</a:t>
            </a:r>
            <a:endParaRPr lang="en-US" sz="1500" dirty="0"/>
          </a:p>
        </p:txBody>
      </p:sp>
      <p:sp>
        <p:nvSpPr>
          <p:cNvPr id="6" name="quiz-ans-0"/>
          <p:cNvSpPr/>
          <p:nvPr/>
        </p:nvSpPr>
        <p:spPr>
          <a:xfrm>
            <a:off x="5394960" y="1069848"/>
            <a:ext cx="3291840" cy="530352"/>
          </a:xfrm>
          <a:prstGeom prst="roundRect">
            <a:avLst>
              <a:gd name="adj" fmla="val 20690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532120" y="1069848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เมื่อได้รับน้ำแล้วเท่านั้น (ขั้นที่ 6)</a:t>
            </a:r>
            <a:endParaRPr lang="en-US" sz="1300" dirty="0"/>
          </a:p>
        </p:txBody>
      </p:sp>
      <p:sp>
        <p:nvSpPr>
          <p:cNvPr id="8" name="quiz-icon-1-bg"/>
          <p:cNvSpPr/>
          <p:nvPr/>
        </p:nvSpPr>
        <p:spPr>
          <a:xfrm>
            <a:off x="457200" y="1810512"/>
            <a:ext cx="457200" cy="457200"/>
          </a:xfrm>
          <a:prstGeom prst="ellipse">
            <a:avLst/>
          </a:prstGeom>
          <a:solidFill>
            <a:srgbClr val="1A73C9"/>
          </a:solidFill>
          <a:ln w="12700">
            <a:solidFill>
              <a:srgbClr val="1A73C9"/>
            </a:solidFill>
            <a:prstDash val="solid"/>
          </a:ln>
        </p:spPr>
      </p:sp>
      <p:pic>
        <p:nvPicPr>
          <p:cNvPr id="9" name="quiz-icon-1" descr="MdQuiz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1911096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176479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ลูกค้ายกเลิกออเดอร์เองได้ถึงสถานะไหน?</a:t>
            </a:r>
            <a:endParaRPr lang="en-US" sz="1500" dirty="0"/>
          </a:p>
        </p:txBody>
      </p:sp>
      <p:sp>
        <p:nvSpPr>
          <p:cNvPr id="11" name="quiz-ans-1"/>
          <p:cNvSpPr/>
          <p:nvPr/>
        </p:nvSpPr>
        <p:spPr>
          <a:xfrm>
            <a:off x="5394960" y="1783080"/>
            <a:ext cx="3291840" cy="530352"/>
          </a:xfrm>
          <a:prstGeom prst="roundRect">
            <a:avLst>
              <a:gd name="adj" fmla="val 20690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532120" y="1783080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PENDING ก่อนคลังกดรับ</a:t>
            </a:r>
            <a:endParaRPr lang="en-US" sz="1300" dirty="0"/>
          </a:p>
        </p:txBody>
      </p:sp>
      <p:sp>
        <p:nvSpPr>
          <p:cNvPr id="13" name="quiz-icon-2-bg"/>
          <p:cNvSpPr/>
          <p:nvPr/>
        </p:nvSpPr>
        <p:spPr>
          <a:xfrm>
            <a:off x="457200" y="2523744"/>
            <a:ext cx="457200" cy="457200"/>
          </a:xfrm>
          <a:prstGeom prst="ellipse">
            <a:avLst/>
          </a:prstGeom>
          <a:solidFill>
            <a:srgbClr val="1A73C9"/>
          </a:solidFill>
          <a:ln w="12700">
            <a:solidFill>
              <a:srgbClr val="1A73C9"/>
            </a:solidFill>
            <a:prstDash val="solid"/>
          </a:ln>
        </p:spPr>
      </p:sp>
      <p:pic>
        <p:nvPicPr>
          <p:cNvPr id="14" name="quiz-icon-2" descr="MdQuiz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2624328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51560" y="247802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ไรเดอร์กรอก OTP ผิดเกินกี่ครั้งจึงถูกล็อก?</a:t>
            </a:r>
            <a:endParaRPr lang="en-US" sz="1500" dirty="0"/>
          </a:p>
        </p:txBody>
      </p:sp>
      <p:sp>
        <p:nvSpPr>
          <p:cNvPr id="16" name="quiz-ans-2"/>
          <p:cNvSpPr/>
          <p:nvPr/>
        </p:nvSpPr>
        <p:spPr>
          <a:xfrm>
            <a:off x="5394960" y="2496312"/>
            <a:ext cx="3291840" cy="530352"/>
          </a:xfrm>
          <a:prstGeom prst="roundRect">
            <a:avLst>
              <a:gd name="adj" fmla="val 20690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532120" y="2496312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5 ครั้ง ต้องให้แอดมินปลดล็อก</a:t>
            </a:r>
            <a:endParaRPr lang="en-US" sz="1300" dirty="0"/>
          </a:p>
        </p:txBody>
      </p:sp>
      <p:sp>
        <p:nvSpPr>
          <p:cNvPr id="18" name="quiz-icon-3-bg"/>
          <p:cNvSpPr/>
          <p:nvPr/>
        </p:nvSpPr>
        <p:spPr>
          <a:xfrm>
            <a:off x="457200" y="3236976"/>
            <a:ext cx="457200" cy="457200"/>
          </a:xfrm>
          <a:prstGeom prst="ellipse">
            <a:avLst/>
          </a:prstGeom>
          <a:solidFill>
            <a:srgbClr val="1A73C9"/>
          </a:solidFill>
          <a:ln w="12700">
            <a:solidFill>
              <a:srgbClr val="1A73C9"/>
            </a:solidFill>
            <a:prstDash val="solid"/>
          </a:ln>
        </p:spPr>
      </p:sp>
      <p:pic>
        <p:nvPicPr>
          <p:cNvPr id="19" name="quiz-icon-3" descr="MdQuiz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" y="3337560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051560" y="319125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ถ้าคลังนับถุงไม่ตรงกับไรเดอร์ จะเกิดอะไร?</a:t>
            </a:r>
            <a:endParaRPr lang="en-US" sz="1500" dirty="0"/>
          </a:p>
        </p:txBody>
      </p:sp>
      <p:sp>
        <p:nvSpPr>
          <p:cNvPr id="21" name="quiz-ans-3"/>
          <p:cNvSpPr/>
          <p:nvPr/>
        </p:nvSpPr>
        <p:spPr>
          <a:xfrm>
            <a:off x="5394960" y="3209544"/>
            <a:ext cx="3291840" cy="530352"/>
          </a:xfrm>
          <a:prstGeom prst="roundRect">
            <a:avLst>
              <a:gd name="adj" fmla="val 20690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532120" y="320954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เป็น BAG_RETURNED แอดมินเคลียร์แล้วปิดงาน</a:t>
            </a:r>
            <a:endParaRPr lang="en-US" sz="1300" dirty="0"/>
          </a:p>
        </p:txBody>
      </p:sp>
      <p:sp>
        <p:nvSpPr>
          <p:cNvPr id="23" name="quiz-icon-4-bg"/>
          <p:cNvSpPr/>
          <p:nvPr/>
        </p:nvSpPr>
        <p:spPr>
          <a:xfrm>
            <a:off x="457200" y="3950208"/>
            <a:ext cx="457200" cy="457200"/>
          </a:xfrm>
          <a:prstGeom prst="ellipse">
            <a:avLst/>
          </a:prstGeom>
          <a:solidFill>
            <a:srgbClr val="1A73C9"/>
          </a:solidFill>
          <a:ln w="12700">
            <a:solidFill>
              <a:srgbClr val="1A73C9"/>
            </a:solidFill>
            <a:prstDash val="solid"/>
          </a:ln>
        </p:spPr>
      </p:sp>
      <p:pic>
        <p:nvPicPr>
          <p:cNvPr id="24" name="quiz-icon-4" descr="MdQuiz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" y="4050792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051560" y="390448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ออเดอร์ไม่มีถุงคืน ปิดงานเมื่อไร?</a:t>
            </a:r>
            <a:endParaRPr lang="en-US" sz="1500" dirty="0"/>
          </a:p>
        </p:txBody>
      </p:sp>
      <p:sp>
        <p:nvSpPr>
          <p:cNvPr id="26" name="quiz-ans-4"/>
          <p:cNvSpPr/>
          <p:nvPr/>
        </p:nvSpPr>
        <p:spPr>
          <a:xfrm>
            <a:off x="5394960" y="3922776"/>
            <a:ext cx="3291840" cy="530352"/>
          </a:xfrm>
          <a:prstGeom prst="roundRect">
            <a:avLst>
              <a:gd name="adj" fmla="val 20690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5532120" y="3922776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ทันทีหลังไรเดอร์ยืนยันส่ง (CLOSED)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ถาม-ตอบ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0"/>
                </a:solidFill>
              </a:rPr>
              <a:t>ทดลองใช้ได้ที่ idrink.tamadee.online · ดูคู่มือฉบับเต็มเพื่อทบทวน</a:t>
            </a:r>
            <a:endParaRPr lang="en-US" sz="1800" dirty="0"/>
          </a:p>
        </p:txBody>
      </p:sp>
      <p:sp>
        <p:nvSpPr>
          <p:cNvPr id="4" name="close-circle"/>
          <p:cNvSpPr/>
          <p:nvPr/>
        </p:nvSpPr>
        <p:spPr>
          <a:xfrm>
            <a:off x="6492240" y="1188720"/>
            <a:ext cx="2286000" cy="2286000"/>
          </a:xfrm>
          <a:prstGeom prst="ellipse">
            <a:avLst/>
          </a:prstGeom>
          <a:solidFill>
            <a:srgbClr val="2FB67C"/>
          </a:solidFill>
          <a:ln w="12700">
            <a:solidFill>
              <a:srgbClr val="2FB67C"/>
            </a:solidFill>
            <a:prstDash val="solid"/>
          </a:ln>
        </p:spPr>
      </p:sp>
      <p:pic>
        <p:nvPicPr>
          <p:cNvPr id="5" name="close-icon" descr="ถาม-ตอบ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169164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rink and Go Training">
  <a:themeElements>
    <a:clrScheme name="Drink and Go Training">
      <a:dk1>
        <a:srgbClr val="1B2A3A"/>
      </a:dk1>
      <a:lt1>
        <a:srgbClr val="FFFFFF"/>
      </a:lt1>
      <a:dk2>
        <a:srgbClr val="0F2D52"/>
      </a:dk2>
      <a:lt2>
        <a:srgbClr val="EEF4FA"/>
      </a:lt2>
      <a:accent1>
        <a:srgbClr val="1A73C9"/>
      </a:accent1>
      <a:accent2>
        <a:srgbClr val="E84A7F"/>
      </a:accent2>
      <a:accent3>
        <a:srgbClr val="2FB67C"/>
      </a:accent3>
      <a:accent4>
        <a:srgbClr val="F2A541"/>
      </a:accent4>
      <a:accent5>
        <a:srgbClr val="6B7C93"/>
      </a:accent5>
      <a:accent6>
        <a:srgbClr val="D6E6F5"/>
      </a:accent6>
      <a:hlink>
        <a:srgbClr val="1A73C9"/>
      </a:hlink>
      <a:folHlink>
        <a:srgbClr val="6B7C93"/>
      </a:folHlink>
    </a:clrScheme>
    <a:fontScheme name="Drink and Go Training">
      <a:majorFont>
        <a:latin typeface="Tah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อบรมการใช้งานระบบ Drink&amp;Go Delivery</dc:title>
  <dc:subject>PptxGenJS Presentation</dc:subject>
  <dc:creator>Drink&amp;Go</dc:creator>
  <cp:lastModifiedBy>Drink&amp;Go</cp:lastModifiedBy>
  <cp:revision>1</cp:revision>
  <dcterms:created xsi:type="dcterms:W3CDTF">2026-10-25T00:11:02Z</dcterms:created>
  <dcterms:modified xsi:type="dcterms:W3CDTF">2026-10-25T00:11:02Z</dcterms:modified>
</cp:coreProperties>
</file>