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การอบรม" id="{c8361b2c-8b2a-ca20-a18c-1dd42a2413bc}">
          <p14:sldIdLst>
            <p14:sldId id="256"/>
            <p14:sldId id="257"/>
            <p14:sldId id="258"/>
          </p14:sldIdLst>
        </p14:section>
        <p14:section name="ลูกค้า" id="{05e0dfb5-4e34-7607-bc4f-1605d3bf0a32}">
          <p14:sldIdLst>
            <p14:sldId id="259"/>
            <p14:sldId id="260"/>
            <p14:sldId id="261"/>
            <p14:sldId id="262"/>
            <p14:sldId id="263"/>
          </p14:sldIdLst>
        </p14:section>
        <p14:section name="คลัง" id="{a358df77-06b1-ddbb-0ea5-401de4ab18cf}">
          <p14:sldIdLst>
            <p14:sldId id="264"/>
            <p14:sldId id="265"/>
            <p14:sldId id="266"/>
            <p14:sldId id="267"/>
            <p14:sldId id="268"/>
          </p14:sldIdLst>
        </p14:section>
        <p14:section name="ไรเดอร์" id="{53948719-e270-4fe3-f61d-59d11d99afde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แอดมิน" id="{255352b3-f843-0784-d2cf-7980087630b0}">
          <p14:sldIdLst>
            <p14:sldId id="276"/>
            <p14:sldId id="277"/>
            <p14:sldId id="278"/>
            <p14:sldId id="279"/>
          </p14:sldIdLst>
        </p14:section>
        <p14:section name="สรุป" id="{54453fca-9d36-51b5-f7fe-afe5332ad3fe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ต้อนรับผู้เข้าอบรม แนะนำว่าวันนี้จะเรียนการใช้ระบบ Drink&amp;Go ตั้งแต่ลูกค้าสั่งน้ำจนปิดงานพร้อมบันทึกถุงคืน ใช้เวลาประมาณ 30–40 นาที แนะนำให้เปิดเว็บ idrink.tamadee.online บนมือถือตามไปด้วย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อธิบายแถบเมนูด้านบนของเว็บ มี 5 ปุ่ม คือ 1. ลูกค้า, 2/8. คลัง, 3–7. ไรเดอร์, แอดมิน และ ตั้งค่า ตัวเลขบนแท็บบอกว่าฝ่ายนั้นรับผิดชอบขั้นไหนใน Flow ในการใช้งานจริงแต่ละคนจะเห็นเฉพาะแท็บของตัวเอง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 Flow ตามภาพ ขั้น 1 ลูกค้าสั่งซื้อ ขั้น 2 คลังรับคำสั่งซื้อ ขั้น 3 กดน้ำ ขั้น 4 ไรเดอร์ยืนยันรับสินค้า ขั้น 5 วิ่งส่ง ขั้น 6 ยืนยันการจัดส่ง แล้วถามว่ามีการคืนถุงไหม ถ้าไม่มีปิดงานทันที ถ้ามีไปขั้น 7 ไรเดอร์ยืนยันรับถุงคืน และขั้น 8 คลังยืนยันรับถุงเข้าคลัง แล้วปิดงานพร้อมบันทึกถุงคืน เน้น 4 จุดที่ต้องยืนยันในระบบ คือ รับออเดอร์ รับสินค้า ส่งสำเร็จ และรับคืน/ส่งคืนถุง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เริ่มจากมุมมองลูกค้า แม้พนักงานไม่ได้สั่งน้ำเอง แต่ต้องอธิบายให้ลูกค้าได้ และต้องรู้ว่า OTP มาจากไหน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สาธิตบนมือถือ กดแท็บ 1. ลูกค้า แล้วสั่งตามขั้น เน้นข้อ 3 ถ้าลูกค้าไม่มีถุงค้าง (0 ใบ) จะกดปุ่ม "มี" ไม่ได้ ซึ่งหน้าจอไม่บอกเหตุผล ให้อธิบายลูกค้าว่ายังไม่มีถุงให้คืน ถุงค้างจะเพิ่มทีละ 1 ใบต่อน้ำถัง 1 ถังที่ส่งสำเร็จ และลดเมื่อคืนถุง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ชี้ให้ดูภาพซ้ายคือหน้าเริ่มต้น ภาพขวาคือหลังเลือกน้ำถัง 1 ถัง และคืนถุง 1 ใบ ยอดรวมเปลี่ยนเป็น 60 บาท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หน้าติดตามสถานะแสดงสถานะ 8 ขั้น ขั้นที่ผ่านแล้วมีเครื่องหมายถูก ย้ำกับลูกค้าว่าอย่าบอก OTP ก่อนได้รับน้ำ เพราะ OTP คือหลักฐานว่าส่งถึงมือแล้ว เรื่องยกเลิกและสั่งซ้ำ ระบบยังไม่มีหน้าต่างยืนยัน ถ้าลูกค้ากดพลาดให้ติดต่อแอดมิน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ภาพซ้ายเป็นออเดอร์ที่เพิ่งสั่ง สถานะ PENDING ภาพขวาเป็นออเดอร์เดียวกันหลังปิดงาน เห็นถูกครบ 8 ขั้น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ฝ่ายคลังมีงานต้นทางและปลายทาง คือรับออเดอร์กับนับถุงคืน งานทั้งหมดอยู่ในแท็บ 2/8. คลัง กดรีเฟรชเพื่อดึงรายการล่าสุด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สาธิตกดรับออเดอร์แล้วมอบหมายไรเดอร์ ชี้ให้เห็นว่าเมื่อรับออเดอร์แล้วปุ่มยกเลิกฝั่งลูกค้าจะหายไป ถ้าคลังเป็นคนกดน้ำเอง ให้กดปุ่มจัดของแทน งานไรเดอร์จะเริ่มที่ขั้นที่ 4 ทันที ก่อนกดรับออเดอร์ ให้ตรวจที่อยู่ลูกค้าด้วย เพราะระบบยังไม่เตือนถ้าที่อยู่ไม่ครบ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ไล่ภาพจากซ้ายไปขวา แถบเขียวด้านบนคือข้อความยืนยันว่าระบบบันทึกแล้ว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ออเดอร์ที่ไม่มีถุงคืนจะปิดเองหลังไรเดอร์ส่งสำเร็จ ไม่ต้องผ่านคลัง สำหรับออเดอร์ที่มีถุง ให้นับจริงทุกครั้ง อย่ากดยืนยันตามตัวเลขที่ระบบเติมให้ เพราะเป็นตัวเลขที่ลูกค้าแจ้ง ไม่ใช่ที่ไรเดอร์รับมา ถ้าตัวเลขไม่ตรง แอดมินจะเห็นในกล่องยอดถุงไม่ตรง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ย้ำว่าตัวเลขในช่องเป็นค่าที่ลูกค้าแจ้ง ไม่ใช่ที่ไรเดอร์รับจริง ต้องนับและแก้ทุกครั้ง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ส่วนนี้สำคัญที่สุดสำหรับพนักงานขนส่ง ไรเดอร์ทำงานทีละออเดอร์ตามคิว ปุ่มใหญ่บนการ์ดงานจะบอกขั้นถัดไปเสมอ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อธิบายตัวเลข 3 ช่องด้านบน เก็บเงินสดคือยอดเงินสดรวมของงานที่เหลือทั้งหมด ขั้นที่ 3 ถ้าคลังกดจัดของแทนแล้วจะข้ามไป ขั้นที่ 4 ต้องถ่ายรูปสินค้าบนรถ ถ้าไม่ถ่าย ระบบจะไม่ให้ยืนยัน ระบบเก็บพิกัด GPS ให้อัตโนมัติ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ข้อความเล็กมุมซ้ายบนของการ์ดบอกขั้นถัดไป ป้ายสีบนการ์ดบอกจำนวนสินค้า ถุงที่ต้องรับ และเงินสดที่ต้องเก็บ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ขั้นนี้มีหลักฐาน 3 ส่วน ระบบไม่ให้ยืนยันถ้าขาดรูป และถ้ามีถุงคืนแต่ไม่ถ่ายรูปถุง ช่อง OTP ถ้าพิมพ์เร็วหรือวางรหัสทั้งชุดบางหลักจะหาย ให้พิมพ์ทีละหลัก จำนวนถุงให้ใส่ตามจริงเสมอ แม้ไม่ตรงกับที่ลูกค้าแจ้ง ระบบจะส่งต่อให้คลังและแอดมินตรวจเอง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ภาพซ้ายคือหน้ายืนยันก่อนกรอก ภาพกลางคือกรอกครบแล้ว ภาพขวาคือหลังส่งสำเร็จ งานหายจากคิว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กรณีส่งไม่สำเร็จ ออเดอร์จะเปลี่ยนเป็น FAILED_DELIVERY และหายจากคิวไรเดอร์ แอดมินจะนัดส่งใหม่และคลังต้องมอบหมายไรเดอร์อีกครั้ง กรณี OTP ล็อก สาเหตุที่พบบ่อยคือกรอกรหัสของออเดอร์อื่น ให้ลูกค้าเลือกออเดอร์ให้ถูกในหน้าติดตามสถานะ หลังแอดมินปลดล็อก หน้าจอแอดมินจะไม่ขึ้นข้อความยืนยัน แต่ระบบปลดล็อกแล้ว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ถ้ากดเปิดหน้าต่างนี้โดยไม่ตั้งใจ ให้กดปุ่ม กลับ ออเดอร์ยังอยู่ในสถานะเดิม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แอดมินดูแลทุกขั้น หน้าที่หลักคือแก้ปัญหาที่ฝ่ายอื่นทำเองไม่ได้ ทุกอย่างอยู่ในแท็บ แอดมิน (Back Office F4)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ไล่ทีละปุ่ม ปุ่มอนุมัติสลิปยังไม่แสดงรูปสลิป ให้ตรวจยอดเงินเข้าบัญชีจริงก่อนกดทุกครั้ง กล่องยอดถุงไม่ตรงยังไม่แสดงตัวเลขของแต่ละฝ่าย ให้ดูจาก Audit Trail และโทรถามคลังกับไรเดอร์ก่อนเคลียร์ และควรใส่หมายเหตุทุกครั้งแม้ระบบไม่บังคับ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ภาพขวาเป็น Audit Trail ของออเดอร์ที่ยอดถุงตรงกัน บรรทัดสุดท้าย [system] คือระบบปิดงานให้อัตโนมัติ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แจกตารางนี้เป็นชีทสรุป สถานะการชำระเงินมี 3 แบบ UNPAID ยังไม่จ่าย PENDING_VERIFY แนบสลิปแล้วรอตรวจ และ PAID จ่ายแล้ว เงินสดจะเป็น PAID เมื่อไรเดอร์ยืนยันส่งสำเร็จ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สรุปข้อจำกัดที่พบจากการทดสอบเมื่อ 25 ต.ค. 2026 ซึ่งทีมพัฒนากำลังแก้ไข ระหว่างนี้ให้ทุกฝ่ายทำตามข้อควรระวังนี้ เรื่องที่สำคัญที่สุดคือการเงิน แอดมินต้องตรวจยอดเงินจริงทุกครั้ง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ถามทีละข้อ ให้ผู้เข้าอบรมตอบก่อน แล้วค่อยเฉลยจากคอลัมน์ขวา ถ้าต้องการซ่อนเฉลย ให้ลบกล่องคำตอบออกก่อนนำเสนอ หรือใส่ animation ให้คำตอบขึ้นทีหลัง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เปิดให้ถามคำถาม แล้วให้แต่ละฝ่ายทดลองทำตาม Flow จริงหนึ่งรอบ จับคู่ลูกค้า คลัง ไรเดอร์ 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Drink&amp;Go · อบรมการใช้งานระบบ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อบรมการใช้งานระบบ Drink&amp;Go Delivery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ขั้นตอนทำงาน 8 ขั้น สำหรับลูกค้า คลัง ไรเดอร์ และแอดมิน</a:t>
            </a:r>
            <a:endParaRPr lang="en-US" sz="1800" dirty="0"/>
          </a:p>
        </p:txBody>
      </p:sp>
      <p:sp>
        <p:nvSpPr>
          <p:cNvPr id="4" name="hero-circle"/>
          <p:cNvSpPr/>
          <p:nvPr/>
        </p:nvSpPr>
        <p:spPr>
          <a:xfrm>
            <a:off x="6492240" y="1188720"/>
            <a:ext cx="2286000" cy="22860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hero-icon" descr="หยดน้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280160" cy="1280160"/>
          </a:xfrm>
          <a:prstGeom prst="rect">
            <a:avLst/>
          </a:prstGeom>
        </p:spPr>
      </p:pic>
      <p:sp>
        <p:nvSpPr>
          <p:cNvPr id="6" name="hero-badge"/>
          <p:cNvSpPr/>
          <p:nvPr/>
        </p:nvSpPr>
        <p:spPr>
          <a:xfrm>
            <a:off x="8001000" y="3063240"/>
            <a:ext cx="868680" cy="8686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7" name="hero-badge-icon" descr="ส่งขอ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D9"/>
                </a:solidFill>
              </a:rPr>
              <a:t>idrink.tamadee.online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ระบบมีผู้ใช้ 4 ฝ่าย แต่ละฝ่ายมีแท็บของตัวเอง</a:t>
            </a:r>
            <a:endParaRPr lang="en-US" sz="2800" dirty="0"/>
          </a:p>
        </p:txBody>
      </p:sp>
      <p:sp>
        <p:nvSpPr>
          <p:cNvPr id="3" name="role-card-0"/>
          <p:cNvSpPr/>
          <p:nvPr/>
        </p:nvSpPr>
        <p:spPr>
          <a:xfrm>
            <a:off x="45720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role-icon-0-bg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role-icon-0" descr="MdPer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6239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ลูกค้า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1. ลูกค้า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ขั้น 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สั่งน้ำ แจ้งถุงคืน แนบสลิป ดู OTP</a:t>
            </a:r>
            <a:endParaRPr lang="en-US" sz="1400" dirty="0"/>
          </a:p>
        </p:txBody>
      </p:sp>
      <p:sp>
        <p:nvSpPr>
          <p:cNvPr id="10" name="role-card-1"/>
          <p:cNvSpPr/>
          <p:nvPr/>
        </p:nvSpPr>
        <p:spPr>
          <a:xfrm>
            <a:off x="256032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1" name="role-icon-1-bg"/>
          <p:cNvSpPr/>
          <p:nvPr/>
        </p:nvSpPr>
        <p:spPr>
          <a:xfrm>
            <a:off x="2788920" y="1463040"/>
            <a:ext cx="731520" cy="7315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2" name="role-icon-1" descr="MdWare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54" y="16239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คลังสินค้า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2/8. คลัง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67C"/>
                </a:solidFill>
              </a:rPr>
              <a:t>ขั้น 2, 8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รับออเดอร์ มอบหมายไรเดอร์ นับถุงคืน</a:t>
            </a:r>
            <a:endParaRPr lang="en-US" sz="1400" dirty="0"/>
          </a:p>
        </p:txBody>
      </p:sp>
      <p:sp>
        <p:nvSpPr>
          <p:cNvPr id="17" name="role-card-2"/>
          <p:cNvSpPr/>
          <p:nvPr/>
        </p:nvSpPr>
        <p:spPr>
          <a:xfrm>
            <a:off x="466344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8" name="role-icon-2-bg"/>
          <p:cNvSpPr/>
          <p:nvPr/>
        </p:nvSpPr>
        <p:spPr>
          <a:xfrm>
            <a:off x="489204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9" name="role-icon-2" descr="MdTwoWhee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74" y="16239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9204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ไรเดอร์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3–7. ไรเดอร์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ขั้น 3–7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กดน้ำ รับสินค้า วิ่งส่ง ยืนยันส่ง รับถุง</a:t>
            </a:r>
            <a:endParaRPr lang="en-US" sz="1400" dirty="0"/>
          </a:p>
        </p:txBody>
      </p:sp>
      <p:sp>
        <p:nvSpPr>
          <p:cNvPr id="24" name="role-card-3"/>
          <p:cNvSpPr/>
          <p:nvPr/>
        </p:nvSpPr>
        <p:spPr>
          <a:xfrm>
            <a:off x="676656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5" name="role-icon-3-bg"/>
          <p:cNvSpPr/>
          <p:nvPr/>
        </p:nvSpPr>
        <p:spPr>
          <a:xfrm>
            <a:off x="6995160" y="1463040"/>
            <a:ext cx="731520" cy="73152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26" name="role-icon-3" descr="MdAdminPanelSetti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94" y="1623974"/>
            <a:ext cx="409651" cy="4096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9516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แอดมิน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99516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แอดมิน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99516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4A7F"/>
                </a:solidFill>
              </a:rPr>
              <a:t>ดูแลทุกขั้น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99516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อนุมัติสลิป ปลดล็อก OTP เคลียร์ถุง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Flow 8 ขั้น: ไม่มีถุงคืนจบหลังขั้น 6, มีถุงคืนไปต่อขั้น 7–8</a:t>
            </a:r>
            <a:endParaRPr lang="en-US" sz="2800" dirty="0"/>
          </a:p>
        </p:txBody>
      </p:sp>
      <p:pic>
        <p:nvPicPr>
          <p:cNvPr id="3" name="flow-image" descr="แผนภาพ Flow การทำงานระบบ Delivery 8 ขั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658368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3" name="section-icon" descr="ลูกค้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1: ลูกค้า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1 · สั่งน้ำ ชำระเงิน และติดตามสถานะ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สั่งน้ำเสร็จใน 5 ขั้น บนหน้าเดียว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ตรวจที่อยู่จัดส่ง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ดูกล่องที่อยู่ "บ้าน" ด้านบนของหน้า</a:t>
            </a:r>
            <a:endParaRPr lang="en-US" sz="1300" dirty="0"/>
          </a:p>
        </p:txBody>
      </p:sp>
      <p:sp>
        <p:nvSpPr>
          <p:cNvPr id="7" name="num-2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792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เลือกจำนวนสินค้า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กด − / + ที่น้ำถังหรือน้ำแพ็ก</a:t>
            </a:r>
            <a:endParaRPr lang="en-US" sz="1300" dirty="0"/>
          </a:p>
        </p:txBody>
      </p:sp>
      <p:sp>
        <p:nvSpPr>
          <p:cNvPr id="11" name="num-3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054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ตอบ "มีถุงคืนรอบนี้ไหม?"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เลือก มี แล้วระบุจำนวนถุง ไม่เกินถุงค้าง</a:t>
            </a:r>
            <a:endParaRPr lang="en-US" sz="1300" dirty="0"/>
          </a:p>
        </p:txBody>
      </p:sp>
      <p:sp>
        <p:nvSpPr>
          <p:cNvPr id="15" name="num-4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เลือกวิธีชำระเงิน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11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เงินสดปลายทาง หรือ PromptPay</a:t>
            </a:r>
            <a:endParaRPr lang="en-US" sz="1300" dirty="0"/>
          </a:p>
        </p:txBody>
      </p:sp>
      <p:sp>
        <p:nvSpPr>
          <p:cNvPr id="19" name="num-5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กด ยืนยันสั่งซื้อ (ขั้นที่ 1)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ระบบแสดงเลขออเดอร์ #DG-xxxx และรหัส OTP</a:t>
            </a:r>
            <a:endParaRPr lang="en-US" sz="1300" dirty="0"/>
          </a:p>
        </p:txBody>
      </p:sp>
      <p:sp>
        <p:nvSpPr>
          <p:cNvPr id="23" name="price-card"/>
          <p:cNvSpPr/>
          <p:nvPr/>
        </p:nvSpPr>
        <p:spPr>
          <a:xfrm>
            <a:off x="5577840" y="109728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C93"/>
                </a:solidFill>
              </a:rPr>
              <a:t>ราคาสินค้า</a:t>
            </a:r>
            <a:endParaRPr lang="en-US" sz="1400" dirty="0"/>
          </a:p>
        </p:txBody>
      </p:sp>
      <p:sp>
        <p:nvSpPr>
          <p:cNvPr id="25" name="tank-icon-bg"/>
          <p:cNvSpPr/>
          <p:nvPr/>
        </p:nvSpPr>
        <p:spPr>
          <a:xfrm>
            <a:off x="5852160" y="1737360"/>
            <a:ext cx="548640" cy="54864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26" name="tank-icon" descr="MdWaterD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861" y="1858061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53796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฿60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น้ำดื่มแบบถัง (มีถุงหมุนเวียน)</a:t>
            </a:r>
            <a:endParaRPr lang="en-US" sz="1400" dirty="0"/>
          </a:p>
        </p:txBody>
      </p:sp>
      <p:sp>
        <p:nvSpPr>
          <p:cNvPr id="28" name="pack-icon-bg"/>
          <p:cNvSpPr/>
          <p:nvPr/>
        </p:nvSpPr>
        <p:spPr>
          <a:xfrm>
            <a:off x="5852160" y="26974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9" name="pack-icon" descr="MdInventory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61" y="2818181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537960" y="2651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฿55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น้ำดื่มแบบแพ็ก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3703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ตัวอย่าง: ถัง 2 + แพ็ก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= 2×60 + 55 = ฿175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หน้าสั่งน้ำ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3511296" cy="3657600"/>
          </a:xfrm>
          <a:prstGeom prst="roundRect">
            <a:avLst>
              <a:gd name="adj" fmla="val 312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หน้าสั่งน้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1129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4334256" y="109728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3425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37176" y="1078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 − / + เลือกจำนวน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37176" y="140817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ยอดรวมด้านล่างคำนวณให้ทันที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4334256" y="198882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34256" y="1988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37176" y="19705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มีถุงคืน: กด มี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37176" y="229971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แล้วระบุจำนวน ไม่เกินถุงค้างที่แสดงมุมขวา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4334256" y="288036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3425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37176" y="286207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เลือกวิธีชำระเงิน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37176" y="319125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เงินสดปลายทาง หรือ PromptPay</a:t>
            </a:r>
            <a:endParaRPr lang="en-US" sz="1200" dirty="0"/>
          </a:p>
        </p:txBody>
      </p:sp>
      <p:sp>
        <p:nvSpPr>
          <p:cNvPr id="17" name="num-4"/>
          <p:cNvSpPr/>
          <p:nvPr/>
        </p:nvSpPr>
        <p:spPr>
          <a:xfrm>
            <a:off x="4334256" y="377190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34256" y="37719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37176" y="375361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กดปุ่มน้ำเงินด้านล่าง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408279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ยืนยันสั่งซื้อ (ขั้นที่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หลังสั่งซื้อ ลูกค้าดูทุกอย่างได้ที่หน้าติดตามสถานะ</a:t>
            </a:r>
            <a:endParaRPr lang="en-US" sz="2800" dirty="0"/>
          </a:p>
        </p:txBody>
      </p:sp>
      <p:sp>
        <p:nvSpPr>
          <p:cNvPr id="3" name="after-card-0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after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after-icon-0" descr="Md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รหัส OTP 4 หลัก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กดปุ่ม ติดตามสถานะ / ดู OTP แล้วบอกรหัสไรเดอร์เมื่อได้รับน้ำแล้วเท่านั้น</a:t>
            </a:r>
            <a:endParaRPr lang="en-US" sz="1300" dirty="0"/>
          </a:p>
        </p:txBody>
      </p:sp>
      <p:sp>
        <p:nvSpPr>
          <p:cNvPr id="8" name="after-card-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after-icon-1-bg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0" name="after-icon-1" descr="MdQrCode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1512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จ่ายด้วย PromptPay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 แนบสลิปโอนเงิน สถานะจะเป็น "รอแอดมินตรวจ" จนกว่าอนุมัติ</a:t>
            </a:r>
            <a:endParaRPr lang="en-US" sz="1300" dirty="0"/>
          </a:p>
        </p:txBody>
      </p:sp>
      <p:sp>
        <p:nvSpPr>
          <p:cNvPr id="13" name="after-card-2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after-icon-2-bg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15" name="after-icon-2" descr="MdCanc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ยกเลิกคำสั่งซื้อ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ทำได้เฉพาะตอน PENDING (คลังยังไม่รับ) กด ยกเลิกคำสั่งซื้อนี้ ไม่มีถามยืนยัน</a:t>
            </a:r>
            <a:endParaRPr lang="en-US" sz="1300" dirty="0"/>
          </a:p>
        </p:txBody>
      </p:sp>
      <p:sp>
        <p:nvSpPr>
          <p:cNvPr id="18" name="after-card-3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9" name="after-icon-3-bg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after-icon-3" descr="MdRe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2497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สั่งซ้ำ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กดแล้วสร้างออเดอร์ใหม่ทันทีด้วยรายการเดิม ไม่มีถามยืนยัน กดเมื่อแน่ใจ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ติดตามสถานะและรหัส OTP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3511296" cy="3657600"/>
          </a:xfrm>
          <a:prstGeom prst="roundRect">
            <a:avLst>
              <a:gd name="adj" fmla="val 312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ติดตามสถานะและรหัส O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1129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4334256" y="109728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3425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37176" y="1078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เลือกออเดอร์จากรายการ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37176" y="140817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ด้านบนสุดของหน้า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4334256" y="198882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34256" y="1988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37176" y="197053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รหัส OTP 4 หลัก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37176" y="229971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กล่องสีเข้ม บอกไรเดอร์เมื่อได้รับน้ำแล้ว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4334256" y="288036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3425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37176" y="286207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สถานะ 8 ขั้น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37176" y="319125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ขั้นที่ผ่านแล้วมีเครื่องหมายถูกสีเขียว</a:t>
            </a:r>
            <a:endParaRPr lang="en-US" sz="1200" dirty="0"/>
          </a:p>
        </p:txBody>
      </p:sp>
      <p:sp>
        <p:nvSpPr>
          <p:cNvPr id="17" name="num-4"/>
          <p:cNvSpPr/>
          <p:nvPr/>
        </p:nvSpPr>
        <p:spPr>
          <a:xfrm>
            <a:off x="4334256" y="3771900"/>
            <a:ext cx="384048" cy="384048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34256" y="37719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37176" y="375361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ถุงค้างของคุณ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4082796"/>
            <a:ext cx="38496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กล่องชมพูด้านล่าง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3" name="section-icon" descr="คลั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2: คลังสินค้า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2 รับออเดอร์ · ขั้นที่ 8 รับถุงคืนเข้าคลัง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2: รับออเดอร์ แล้วมอบหมายไรเดอร์ทันที</a:t>
            </a:r>
            <a:endParaRPr lang="en-US" sz="2800" dirty="0"/>
          </a:p>
        </p:txBody>
      </p:sp>
      <p:sp>
        <p:nvSpPr>
          <p:cNvPr id="3" name="wh-card-0"/>
          <p:cNvSpPr/>
          <p:nvPr/>
        </p:nvSpPr>
        <p:spPr>
          <a:xfrm>
            <a:off x="45720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wh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5" name="wh-icon-0" descr="MdIn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ออเดอร์ใหม่เข้า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ป้าย PENDING พร้อมยอดเงิน วิธีจ่าย และถุงที่ลูกค้าแจ้งคืน</a:t>
            </a:r>
            <a:endParaRPr lang="en-US" sz="1300" dirty="0"/>
          </a:p>
        </p:txBody>
      </p:sp>
      <p:pic>
        <p:nvPicPr>
          <p:cNvPr id="8" name="wh-arrow-0" descr="ถัดไ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148840"/>
            <a:ext cx="219456" cy="219456"/>
          </a:xfrm>
          <a:prstGeom prst="rect">
            <a:avLst/>
          </a:prstGeom>
        </p:spPr>
      </p:pic>
      <p:sp>
        <p:nvSpPr>
          <p:cNvPr id="9" name="wh-card-1"/>
          <p:cNvSpPr/>
          <p:nvPr/>
        </p:nvSpPr>
        <p:spPr>
          <a:xfrm>
            <a:off x="329184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0" name="wh-icon-1-bg"/>
          <p:cNvSpPr/>
          <p:nvPr/>
        </p:nvSpPr>
        <p:spPr>
          <a:xfrm>
            <a:off x="352044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1" name="wh-icon-1" descr="Md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58" y="1512418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 ขั้นที่ 2: รับคำสั่งซื้อ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ป้ายเปลี่ยนเป็น CONFIRMED ลูกค้ายกเลิกเองไม่ได้แล้ว</a:t>
            </a:r>
            <a:endParaRPr lang="en-US" sz="1300" dirty="0"/>
          </a:p>
        </p:txBody>
      </p:sp>
      <p:pic>
        <p:nvPicPr>
          <p:cNvPr id="14" name="wh-arrow-1" descr="ถัดไป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148840"/>
            <a:ext cx="219456" cy="219456"/>
          </a:xfrm>
          <a:prstGeom prst="rect">
            <a:avLst/>
          </a:prstGeom>
        </p:spPr>
      </p:pic>
      <p:sp>
        <p:nvSpPr>
          <p:cNvPr id="15" name="wh-card-2"/>
          <p:cNvSpPr/>
          <p:nvPr/>
        </p:nvSpPr>
        <p:spPr>
          <a:xfrm>
            <a:off x="612648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6" name="wh-icon-2-bg"/>
          <p:cNvSpPr/>
          <p:nvPr/>
        </p:nvSpPr>
        <p:spPr>
          <a:xfrm>
            <a:off x="635508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7" name="wh-icon-2" descr="MdAssignmentI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1512418"/>
            <a:ext cx="358445" cy="35844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5508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เลือกไรเดอร์ → มอบหมายไรเดอร์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35508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งานขึ้นในแท็บไรเดอร์ทันที เปลี่ยนคนได้จนถึง PACKED</a:t>
            </a:r>
            <a:endParaRPr lang="en-US" sz="1300" dirty="0"/>
          </a:p>
        </p:txBody>
      </p:sp>
      <p:sp>
        <p:nvSpPr>
          <p:cNvPr id="20" name="wh-tip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1" name="wh-tip-icon-bg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2" name="wh-tip-icon" descr="MdTipsAndUpda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" y="3989710"/>
            <a:ext cx="286756" cy="2867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5880" y="382219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คลังกดน้ำเองได้: กด "คลังกดจัดของแทนไรเดอร์ (ขั้นที่ 3 PACKED)" ปุ่มนี้กดได้แม้ยังไม่มีไรเดอร์ อย่าลืมมอบหมายไรเดอร์ตามหลัง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รับออเดอร์และมอบหมายไรเดอร์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5216056" cy="3657600"/>
          </a:xfrm>
          <a:prstGeom prst="roundRect">
            <a:avLst>
              <a:gd name="adj" fmla="val 3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รับออเดอร์และมอบหมายไรเดอร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605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6039016" y="1097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901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41936" y="1078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ป้าย PENDING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41936" y="1408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กดปุ่มน้ำเงิน รับคำสั่งซื้อ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6039016" y="2240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901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41936" y="2221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ป้าย CONFIRMED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41936" y="2551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เลือกไรเดอร์ แล้วกด มอบหมายไรเดอร์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6039016" y="3383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9016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41936" y="3364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มอบหมายแล้ว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41936" y="3694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ปุ่มเปลี่ยนเป็น เปลี่ยนไรเดอร์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8: นับถุงจริง แล้วระบบเทียบกับที่ไรเดอร์รับมา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ไรเดอร์ส่งเสร็จ ออเดอร์ขึ้นป้าย BAG_COLLECTED</a:t>
            </a:r>
            <a:endParaRPr lang="en-US" sz="1400" dirty="0"/>
          </a:p>
        </p:txBody>
      </p:sp>
      <p:sp>
        <p:nvSpPr>
          <p:cNvPr id="6" name="num-2"/>
          <p:cNvSpPr/>
          <p:nvPr/>
        </p:nvSpPr>
        <p:spPr>
          <a:xfrm>
            <a:off x="457200" y="1801368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นับถุงที่ไรเดอร์นำกลับมาจริง</a:t>
            </a:r>
            <a:endParaRPr lang="en-US" sz="1400" dirty="0"/>
          </a:p>
        </p:txBody>
      </p:sp>
      <p:sp>
        <p:nvSpPr>
          <p:cNvPr id="9" name="num-3"/>
          <p:cNvSpPr/>
          <p:nvPr/>
        </p:nvSpPr>
        <p:spPr>
          <a:xfrm>
            <a:off x="457200" y="2459736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แก้ช่อง "จำนวนถุงที่คลังนับได้จริง" ให้ตรงกับที่นับ</a:t>
            </a:r>
            <a:endParaRPr lang="en-US" sz="1400" dirty="0"/>
          </a:p>
        </p:txBody>
      </p:sp>
      <p:sp>
        <p:nvSpPr>
          <p:cNvPr id="12" name="num-4"/>
          <p:cNvSpPr/>
          <p:nvPr/>
        </p:nvSpPr>
        <p:spPr>
          <a:xfrm>
            <a:off x="457200" y="3118104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กด ยืนยันการส่งคืนถุง</a:t>
            </a:r>
            <a:endParaRPr lang="en-US" sz="1400" dirty="0"/>
          </a:p>
        </p:txBody>
      </p:sp>
      <p:sp>
        <p:nvSpPr>
          <p:cNvPr id="15" name="bag-match"/>
          <p:cNvSpPr/>
          <p:nvPr/>
        </p:nvSpPr>
        <p:spPr>
          <a:xfrm>
            <a:off x="4846320" y="10972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E3F6EC"/>
          </a:solidFill>
          <a:ln w="12700">
            <a:solidFill>
              <a:srgbClr val="E3F6EC"/>
            </a:solidFill>
            <a:prstDash val="solid"/>
          </a:ln>
        </p:spPr>
      </p:sp>
      <p:sp>
        <p:nvSpPr>
          <p:cNvPr id="16" name="bag-match-icon-bg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7" name="bag-match-icon" descr="MdTask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901" y="140086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76072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ยอดตรงกัน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ปิดงานอัตโนมัติ CLOSED_WITH_RETURN</a:t>
            </a:r>
            <a:endParaRPr lang="en-US" sz="1300" dirty="0"/>
          </a:p>
        </p:txBody>
      </p:sp>
      <p:sp>
        <p:nvSpPr>
          <p:cNvPr id="20" name="bag-mismatch"/>
          <p:cNvSpPr/>
          <p:nvPr/>
        </p:nvSpPr>
        <p:spPr>
          <a:xfrm>
            <a:off x="4846320" y="26974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21" name="bag-mismatch-icon-bg"/>
          <p:cNvSpPr/>
          <p:nvPr/>
        </p:nvSpPr>
        <p:spPr>
          <a:xfrm>
            <a:off x="5029200" y="2880360"/>
            <a:ext cx="548640" cy="54864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22" name="bag-mismatch-icon" descr="MdReportPro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3001061"/>
            <a:ext cx="307238" cy="30723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76072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ยอดไม่ตรง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576072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เป็น BAG_RETURNED แล้วส่งให้แอดมินเคลียร์ยอด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4A7F"/>
                </a:solidFill>
              </a:rPr>
              <a:t>ระวัง: ช่องนับถุงเติมค่าเริ่มต้นเป็นจำนวนที่ลูกค้าแจ้ง ไม่ใช่ที่ไรเดอร์รับจริง ต้องแก้ทุกครั้ง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ขั้นที่ 8 นับถุงคืนเข้าคลัง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3511296" cy="3657600"/>
          </a:xfrm>
          <a:prstGeom prst="roundRect">
            <a:avLst>
              <a:gd name="adj" fmla="val 312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ขั้นที่ 8 นับถุงคืนเข้าคลั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1129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4334256" y="1097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3425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37176" y="1078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ป้าย BAG_COLLECTED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37176" y="1408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ไรเดอร์นำถุงกลับมาแล้ว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4334256" y="2240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3425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37176" y="2221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ใส่จำนวนที่นับได้จริง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37176" y="2551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แก้ตัวเลขในช่องให้ตรงกับที่นับ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4334256" y="3383280"/>
            <a:ext cx="384048" cy="384048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34256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37176" y="3364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 ยืนยันการส่งคืนถุง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37176" y="3694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ยอดตรงกัน ระบบปิดงานให้อัตโนมัติ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section-icon" descr="ไรเดอร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3: ไรเดอร์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3–7 · จากกดน้ำจนรับถุงคืน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ทำทีละงาน: กดตามปุ่มใหญ่บนการ์ดงานทุกครั้ง</a:t>
            </a:r>
            <a:endParaRPr lang="en-US" sz="2800" dirty="0"/>
          </a:p>
        </p:txBody>
      </p:sp>
      <p:sp>
        <p:nvSpPr>
          <p:cNvPr id="3" name="rider-home"/>
          <p:cNvSpPr/>
          <p:nvPr/>
        </p:nvSpPr>
        <p:spPr>
          <a:xfrm>
            <a:off x="457200" y="109728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หน้า "งานวันนี้"</a:t>
            </a:r>
            <a:endParaRPr lang="en-US" sz="1600" dirty="0"/>
          </a:p>
        </p:txBody>
      </p:sp>
      <p:sp>
        <p:nvSpPr>
          <p:cNvPr id="5" name="tile-0"/>
          <p:cNvSpPr/>
          <p:nvPr/>
        </p:nvSpPr>
        <p:spPr>
          <a:xfrm>
            <a:off x="685800" y="1783080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งานค้าง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830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จำนวนงาน</a:t>
            </a:r>
            <a:endParaRPr lang="en-US" sz="1200" dirty="0"/>
          </a:p>
        </p:txBody>
      </p:sp>
      <p:sp>
        <p:nvSpPr>
          <p:cNvPr id="8" name="tile-1"/>
          <p:cNvSpPr/>
          <p:nvPr/>
        </p:nvSpPr>
        <p:spPr>
          <a:xfrm>
            <a:off x="685800" y="2404872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048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ถุงที่ต้องรับ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404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ใบ</a:t>
            </a:r>
            <a:endParaRPr lang="en-US" sz="1200" dirty="0"/>
          </a:p>
        </p:txBody>
      </p:sp>
      <p:sp>
        <p:nvSpPr>
          <p:cNvPr id="11" name="tile-2"/>
          <p:cNvSpPr/>
          <p:nvPr/>
        </p:nvSpPr>
        <p:spPr>
          <a:xfrm>
            <a:off x="685800" y="3026664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2666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เก็บเงินสด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02666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บาท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0"/>
                </a:solidFill>
              </a:rPr>
              <a:t>การ์ดงานมีปุ่ม นำทาง (Google Maps) และ โทรหาลูกค้า งานถัดไปเปิดได้เมื่องานปัจจุบันเสร็จ</a:t>
            </a:r>
            <a:endParaRPr lang="en-US" sz="1200" dirty="0"/>
          </a:p>
        </p:txBody>
      </p:sp>
      <p:sp>
        <p:nvSpPr>
          <p:cNvPr id="15" name="num-3"/>
          <p:cNvSpPr/>
          <p:nvPr/>
        </p:nvSpPr>
        <p:spPr>
          <a:xfrm>
            <a:off x="4114800" y="11887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กดน้ำ / จัดเตรียม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5544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 "ขั้นที่ 3: กดน้ำเสร็จแล้ว (PACKED)"</a:t>
            </a:r>
            <a:endParaRPr lang="en-US" sz="1300" dirty="0"/>
          </a:p>
        </p:txBody>
      </p:sp>
      <p:sp>
        <p:nvSpPr>
          <p:cNvPr id="19" name="num-4"/>
          <p:cNvSpPr/>
          <p:nvPr/>
        </p:nvSpPr>
        <p:spPr>
          <a:xfrm>
            <a:off x="4114800" y="22860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267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ยืนยันรับสินค้า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6517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ถ่ายรูปสินค้าบนรถ (บังคับ) แล้วกด ยืนยันรับสินค้า</a:t>
            </a:r>
            <a:endParaRPr lang="en-US" sz="1300" dirty="0"/>
          </a:p>
        </p:txBody>
      </p:sp>
      <p:sp>
        <p:nvSpPr>
          <p:cNvPr id="23" name="num-5"/>
          <p:cNvSpPr/>
          <p:nvPr/>
        </p:nvSpPr>
        <p:spPr>
          <a:xfrm>
            <a:off x="4114800" y="33832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364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วิ่งส่งสินค้า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749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ออกจากคลังแล้วกด "ขั้นที่ 5: เริ่มวิ่งส่งสินค้า"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การ์ดงานขั้นที่ 3–5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5216056" cy="3657600"/>
          </a:xfrm>
          <a:prstGeom prst="roundRect">
            <a:avLst>
              <a:gd name="adj" fmla="val 3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การ์ดงานขั้นที่ 3–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605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6039016" y="1097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901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41936" y="1078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ขั้น 3: กดน้ำเสร็จแล้ว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41936" y="1408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ปุ่มเขียวอมฟ้าด้านล่างการ์ด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6039016" y="2240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901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41936" y="2221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ขั้น 4: ถ่ายรูปสินค้า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41936" y="2551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แล้วกด ยืนยันรับสินค้า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6039016" y="3383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9016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41936" y="3364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ขั้น 5: เริ่มวิ่งส่ง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41936" y="3694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ถึงบ้านลูกค้าแล้วกด ถึงแล้ว · ยืนยันส่ง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6–7: ยืนยันส่งต้องมีรูป + OTP + จำนวนถุงจริง</a:t>
            </a:r>
            <a:endParaRPr lang="en-US" sz="2800" dirty="0"/>
          </a:p>
        </p:txBody>
      </p:sp>
      <p:sp>
        <p:nvSpPr>
          <p:cNvPr id="3" name="dv-card-0"/>
          <p:cNvSpPr/>
          <p:nvPr/>
        </p:nvSpPr>
        <p:spPr>
          <a:xfrm>
            <a:off x="45720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dv-icon-0-bg"/>
          <p:cNvSpPr/>
          <p:nvPr/>
        </p:nvSpPr>
        <p:spPr>
          <a:xfrm>
            <a:off x="68580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dv-icon-0" descr="MdPhoto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4767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รูปหลักฐานการส่ง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ถ่ายรูปสินค้าที่ส่งถึงมือลูกค้า ระบบเช็กระยะ GPS ให้</a:t>
            </a:r>
            <a:endParaRPr lang="en-US" sz="1300" dirty="0"/>
          </a:p>
        </p:txBody>
      </p:sp>
      <p:sp>
        <p:nvSpPr>
          <p:cNvPr id="8" name="dv-card-1"/>
          <p:cNvSpPr/>
          <p:nvPr/>
        </p:nvSpPr>
        <p:spPr>
          <a:xfrm>
            <a:off x="329184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dv-icon-1-bg"/>
          <p:cNvSpPr/>
          <p:nvPr/>
        </p:nvSpPr>
        <p:spPr>
          <a:xfrm>
            <a:off x="352044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dv-icon-1" descr="Md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14767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OTP 4 หลัก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ขอรหัสจากลูกค้า พิมพ์ช้า ๆ ทีละหลัก</a:t>
            </a:r>
            <a:endParaRPr lang="en-US" sz="1300" dirty="0"/>
          </a:p>
        </p:txBody>
      </p:sp>
      <p:sp>
        <p:nvSpPr>
          <p:cNvPr id="13" name="dv-card-2"/>
          <p:cNvSpPr/>
          <p:nvPr/>
        </p:nvSpPr>
        <p:spPr>
          <a:xfrm>
            <a:off x="612648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dv-icon-2-bg"/>
          <p:cNvSpPr/>
          <p:nvPr/>
        </p:nvSpPr>
        <p:spPr>
          <a:xfrm>
            <a:off x="635508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dv-icon-2" descr="MdRecyc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47675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ถุงคืน (ขั้น 7)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ใส่จำนวนที่รับจริง ถ้ามากกว่า 0 ต้องถ่ายรูปถุงด้วย</a:t>
            </a:r>
            <a:endParaRPr lang="en-US" sz="1300" dirty="0"/>
          </a:p>
        </p:txBody>
      </p:sp>
      <p:sp>
        <p:nvSpPr>
          <p:cNvPr id="18" name="dv-button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D9"/>
                </a:solidFill>
              </a:rPr>
              <a:t>กดปุ่มเขียว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10312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"ยืนยันส่งสำเร็จ (ไม่มีถุงคืน)"  หรือ  "ยืนยันส่งสำเร็จ และรับถุง N ใบ"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ยืนยันส่งสำเร็จ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5216056" cy="3657600"/>
          </a:xfrm>
          <a:prstGeom prst="roundRect">
            <a:avLst>
              <a:gd name="adj" fmla="val 3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ยืนยันส่งสำเร็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605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6039016" y="1097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901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41936" y="1078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ถ่ายรูปสินค้าที่ส่ง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41936" y="1408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ระบบเช็กระยะ GPS ให้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6039016" y="2240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901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41936" y="2221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กรอก OTP 4 หลัก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41936" y="2551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พิมพ์ทีละหลักช้า ๆ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6039016" y="33832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9016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41936" y="3364992"/>
            <a:ext cx="2144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ใส่ถุงที่รับจริง + รูปถุง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41936" y="3694176"/>
            <a:ext cx="2144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แล้วกดปุ่มเขียว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ส่งไม่สำเร็จหรือ OTP ถูกล็อก มีขั้นตอนรองรับ</a:t>
            </a:r>
            <a:endParaRPr lang="en-US" sz="2800" dirty="0"/>
          </a:p>
        </p:txBody>
      </p:sp>
      <p:sp>
        <p:nvSpPr>
          <p:cNvPr id="3" name="fail-card"/>
          <p:cNvSpPr/>
          <p:nvPr/>
        </p:nvSpPr>
        <p:spPr>
          <a:xfrm>
            <a:off x="457200" y="10972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fail-icon-bg"/>
          <p:cNvSpPr/>
          <p:nvPr/>
        </p:nvSpPr>
        <p:spPr>
          <a:xfrm>
            <a:off x="685800" y="1280160"/>
            <a:ext cx="594360" cy="59436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5" name="fail-icon" descr="MdDoNotDisturb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109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ส่งไม่สำเร็จ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กดลิงก์ ส่งไม่สำเร็จ แจ้งเหตุผล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แก้สาเหตุ (ค่าเริ่มต้น: ลูกค้าไม่อยู่ / ติดต่อไม่ได้)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ถ่ายรูปหน้าบ้านเป็นหลักฐาน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กด ยืนยันส่งไม่สำเร็จ → แอดมินนัดส่งใหม่</a:t>
            </a:r>
            <a:endParaRPr lang="en-US" sz="1400" dirty="0"/>
          </a:p>
        </p:txBody>
      </p:sp>
      <p:sp>
        <p:nvSpPr>
          <p:cNvPr id="8" name="lock-card"/>
          <p:cNvSpPr/>
          <p:nvPr/>
        </p:nvSpPr>
        <p:spPr>
          <a:xfrm>
            <a:off x="4709160" y="10972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9" name="lock-icon-bg"/>
          <p:cNvSpPr/>
          <p:nvPr/>
        </p:nvSpPr>
        <p:spPr>
          <a:xfrm>
            <a:off x="4937760" y="1280160"/>
            <a:ext cx="594360" cy="59436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10" name="lock-icon" descr="Md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4109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OTP ผิดเกิน 5 ครั้ง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4A7F"/>
                </a:solidFill>
              </a:rPr>
              <a:t>5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ครั้ง แล้วออเดอร์ถูกล็อก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3108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โทรแจ้งแอดมินให้กด ปลดล็อก OTP แล้วขอรหัสจากลูกค้าใหม่ ตรวจเลขออเดอร์ให้ตรงก่อนกรอก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แจ้งส่งไม่สำเร็จ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2862470" cy="3657600"/>
          </a:xfrm>
          <a:prstGeom prst="roundRect">
            <a:avLst>
              <a:gd name="adj" fmla="val 383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แจ้งส่งไม่สำเร็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862470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3685430" y="109728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8543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188350" y="1078992"/>
            <a:ext cx="4498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กดลิงก์ใต้ปุ่มเขียว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188350" y="1408176"/>
            <a:ext cx="44984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ส่งไม่สำเร็จ แจ้งเหตุผล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3685430" y="198882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85430" y="1988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188350" y="1970532"/>
            <a:ext cx="4498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แก้สาเหตุ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188350" y="2299716"/>
            <a:ext cx="44984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ค่าเริ่มต้น: ลูกค้าไม่อยู่ / ติดต่อไม่ได้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3685430" y="288036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8543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88350" y="2862072"/>
            <a:ext cx="4498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ถ่ายรูปหน้าบ้าน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188350" y="3191256"/>
            <a:ext cx="44984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เป็นหลักฐาน</a:t>
            </a:r>
            <a:endParaRPr lang="en-US" sz="1200" dirty="0"/>
          </a:p>
        </p:txBody>
      </p:sp>
      <p:sp>
        <p:nvSpPr>
          <p:cNvPr id="17" name="num-4"/>
          <p:cNvSpPr/>
          <p:nvPr/>
        </p:nvSpPr>
        <p:spPr>
          <a:xfrm>
            <a:off x="3685430" y="377190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85430" y="37719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188350" y="3753612"/>
            <a:ext cx="44984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กดปุ่มชมพู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188350" y="4082796"/>
            <a:ext cx="44984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ยืนยันส่งไม่สำเร็จ หรือกด กลับ ถ้ากดผิด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3" name="section-icon" descr="แอดมิ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4: แอดมิน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แก้ปัญหา 4 เรื่อง และดูประวัติทุกออเดอร์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ปุ่มแอดมิน 5 ปุ่ม ขึ้นตามสถานะของแต่ละออเดอร์</a:t>
            </a:r>
            <a:endParaRPr lang="en-US" sz="2800" dirty="0"/>
          </a:p>
        </p:txBody>
      </p:sp>
      <p:sp>
        <p:nvSpPr>
          <p:cNvPr id="3" name="adm-icon-0-bg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4" name="adm-icon-0" descr="MdReport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1722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51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ยอดถุงคืนไม่ตรง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051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ใส่หมายเหตุ → ยืนยันเคลียร์ยอดถุงและปิดงาน</a:t>
            </a:r>
            <a:endParaRPr lang="en-US" sz="1400" dirty="0"/>
          </a:p>
        </p:txBody>
      </p:sp>
      <p:sp>
        <p:nvSpPr>
          <p:cNvPr id="7" name="adm-icon-1-bg"/>
          <p:cNvSpPr/>
          <p:nvPr/>
        </p:nvSpPr>
        <p:spPr>
          <a:xfrm>
            <a:off x="457200" y="1764792"/>
            <a:ext cx="548640" cy="54864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8" name="adm-icon-1" descr="MdVerifi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885493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7647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อนุมัติสลิปโอนเงิน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1764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ออเดอร์ PromptPay ที่รอตรวจ → เปลี่ยนเป็น PAID</a:t>
            </a:r>
            <a:endParaRPr lang="en-US" sz="1400" dirty="0"/>
          </a:p>
        </p:txBody>
      </p:sp>
      <p:sp>
        <p:nvSpPr>
          <p:cNvPr id="11" name="adm-icon-2-bg"/>
          <p:cNvSpPr/>
          <p:nvPr/>
        </p:nvSpPr>
        <p:spPr>
          <a:xfrm>
            <a:off x="457200" y="2478024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adm-icon-2" descr="MdLoc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598725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4780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ปลดล็อก OTP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389120" y="24780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เมื่อไรเดอร์กรอกผิดเกิน 5 ครั้ง</a:t>
            </a:r>
            <a:endParaRPr lang="en-US" sz="1400" dirty="0"/>
          </a:p>
        </p:txBody>
      </p:sp>
      <p:sp>
        <p:nvSpPr>
          <p:cNvPr id="15" name="adm-icon-3-bg"/>
          <p:cNvSpPr/>
          <p:nvPr/>
        </p:nvSpPr>
        <p:spPr>
          <a:xfrm>
            <a:off x="457200" y="3191256"/>
            <a:ext cx="548640" cy="54864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6" name="adm-icon-3" descr="MdEventRepe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311957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191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นัดส่งใหม่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89120" y="31912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ออเดอร์ส่งไม่สำเร็จ → กลับเป็น CONFIRMED</a:t>
            </a:r>
            <a:endParaRPr lang="en-US" sz="1400" dirty="0"/>
          </a:p>
        </p:txBody>
      </p:sp>
      <p:sp>
        <p:nvSpPr>
          <p:cNvPr id="19" name="adm-icon-4-bg"/>
          <p:cNvSpPr/>
          <p:nvPr/>
        </p:nvSpPr>
        <p:spPr>
          <a:xfrm>
            <a:off x="457200" y="3904488"/>
            <a:ext cx="548640" cy="548640"/>
          </a:xfrm>
          <a:prstGeom prst="ellipse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pic>
        <p:nvPicPr>
          <p:cNvPr id="20" name="adm-icon-4" descr="MdHist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4025189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ดู Audit Trail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389120" y="39044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ประวัติว่าใครเปลี่ยนสถานะอะไร พร้อมรูป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หน้าจอจริง: รายการออเดอร์และ Audit Trail</a:t>
            </a:r>
            <a:endParaRPr lang="en-US" sz="2800" dirty="0"/>
          </a:p>
        </p:txBody>
      </p:sp>
      <p:sp>
        <p:nvSpPr>
          <p:cNvPr id="3" name="screen-bg"/>
          <p:cNvSpPr/>
          <p:nvPr/>
        </p:nvSpPr>
        <p:spPr>
          <a:xfrm>
            <a:off x="457200" y="1005840"/>
            <a:ext cx="3511296" cy="3657600"/>
          </a:xfrm>
          <a:prstGeom prst="roundRect">
            <a:avLst>
              <a:gd name="adj" fmla="val 312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pic>
        <p:nvPicPr>
          <p:cNvPr id="4" name="screenshot" descr="หน้าจอจริง: รายการออเดอร์และ Audit Tr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511296" cy="36576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4334256" y="109728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3425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37176" y="1078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การ์ดออเดอร์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37176" y="1408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เลขที่ ยอดเงิน สถานะ และการชำระเงิน</a:t>
            </a:r>
            <a:endParaRPr lang="en-US" sz="1200" dirty="0"/>
          </a:p>
        </p:txBody>
      </p:sp>
      <p:sp>
        <p:nvSpPr>
          <p:cNvPr id="9" name="num-2"/>
          <p:cNvSpPr/>
          <p:nvPr/>
        </p:nvSpPr>
        <p:spPr>
          <a:xfrm>
            <a:off x="4334256" y="224028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3425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37176" y="2221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ปุ่มตามสถานะ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37176" y="2551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อนุมัติสลิป ปลดล็อก OTP นัดส่งใหม่</a:t>
            </a:r>
            <a:endParaRPr lang="en-US" sz="1200" dirty="0"/>
          </a:p>
        </p:txBody>
      </p:sp>
      <p:sp>
        <p:nvSpPr>
          <p:cNvPr id="13" name="num-3"/>
          <p:cNvSpPr/>
          <p:nvPr/>
        </p:nvSpPr>
        <p:spPr>
          <a:xfrm>
            <a:off x="4334256" y="3383280"/>
            <a:ext cx="384048" cy="384048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34256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37176" y="3364992"/>
            <a:ext cx="3849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ดู Audit Trail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37176" y="3694176"/>
            <a:ext cx="3849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</a:rPr>
              <a:t>ใคร เปลี่ยนสถานะอะไร มีรูปหรือไม่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ตารางสถานะ: อ่านป้ายภาษาอังกฤษให้ออก</a:t>
            </a:r>
            <a:endParaRPr lang="en-US" sz="2800" dirty="0"/>
          </a:p>
        </p:txBody>
      </p:sp>
      <p:graphicFrame>
        <p:nvGraphicFramePr>
          <p:cNvPr id="25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สถานะ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ความหมาย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ใครเปลี่ยน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PENDING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ลูกค้าสั่งแล้ว รอคลังรับ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ลูกค้า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CONFIRMED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คลังรับออเดอร์แล้ว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PACKED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กดน้ำ / จัดของเสร็จ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 หรือ 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PICKED_UP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ไรเดอร์รับสินค้าขึ้นรถ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OUT_FOR_DELIVERY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กำลังวิ่งส่ง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DELIVERED / BAG_COLLECTED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ส่งถึงแล้ว / รับถุงคืนแล้ว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BAG_RETURNED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ถุงไม่ตรง รอแอดมิน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CLOSED / CLOSED_WITH_RETURN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ปิดงาน / ปิดงานพร้อมถุงคืน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คลัง แอดมิน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FAILED_DELIVERY / CANCELLED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ส่งไม่สำเร็จ / ลูกค้ายกเลิก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 / ลูกค้า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ข้อควรระวังจากการทดสอบ ก่อนใช้งานจริง</a:t>
            </a:r>
            <a:endParaRPr lang="en-US" sz="2800" dirty="0"/>
          </a:p>
        </p:txBody>
      </p:sp>
      <p:sp>
        <p:nvSpPr>
          <p:cNvPr id="3" name="warn-card-0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4" name="warn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5" name="warn-icon-0" descr="MdPay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แอดมิน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ตรวจยอดโอนเข้าบัญชีก่อนกดอนุมัติสลิป ระบบยังปิดงานได้แม้สลิปยังไม่อนุมัติ</a:t>
            </a:r>
            <a:endParaRPr lang="en-US" sz="1300" dirty="0"/>
          </a:p>
        </p:txBody>
      </p:sp>
      <p:sp>
        <p:nvSpPr>
          <p:cNvPr id="8" name="warn-card-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warn-icon-1-bg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10" name="warn-icon-1" descr="MdInven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1512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คลัง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แก้จำนวนถุงให้ตรงกับที่นับได้จริง อย่ากดตามค่าที่ระบบเติมให้</a:t>
            </a:r>
            <a:endParaRPr lang="en-US" sz="1300" dirty="0"/>
          </a:p>
        </p:txBody>
      </p:sp>
      <p:sp>
        <p:nvSpPr>
          <p:cNvPr id="13" name="warn-card-2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warn-icon-2-bg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15" name="warn-icon-2" descr="MdKey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ไรเดอร์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พิมพ์ OTP ทีละหลักช้า ๆ และใส่จำนวนถุงตามจริงเสมอ</a:t>
            </a:r>
            <a:endParaRPr lang="en-US" sz="1300" dirty="0"/>
          </a:p>
        </p:txBody>
      </p:sp>
      <p:sp>
        <p:nvSpPr>
          <p:cNvPr id="18" name="warn-card-3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9" name="warn-icon-3-bg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20" name="warn-icon-3" descr="MdTouch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2497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ลูกค้า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ปุ่มสั่งซ้ำและยกเลิกทำงานทันที ไม่มีถามยืนยัน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2800" dirty="0"/>
          </a:p>
        </p:txBody>
      </p:sp>
      <p:sp>
        <p:nvSpPr>
          <p:cNvPr id="3" name="quiz-icon-0-bg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4" name="quiz-icon-0" descr="MdQu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9786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ลูกค้าควรบอก OTP ไรเดอร์ตอนไหน?</a:t>
            </a:r>
            <a:endParaRPr lang="en-US" sz="1500" dirty="0"/>
          </a:p>
        </p:txBody>
      </p:sp>
      <p:sp>
        <p:nvSpPr>
          <p:cNvPr id="6" name="quiz-ans-0"/>
          <p:cNvSpPr/>
          <p:nvPr/>
        </p:nvSpPr>
        <p:spPr>
          <a:xfrm>
            <a:off x="5394960" y="1069848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0698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เมื่อได้รับน้ำแล้วเท่านั้น (ขั้นที่ 6)</a:t>
            </a:r>
            <a:endParaRPr lang="en-US" sz="1300" dirty="0"/>
          </a:p>
        </p:txBody>
      </p:sp>
      <p:sp>
        <p:nvSpPr>
          <p:cNvPr id="8" name="quiz-icon-1-bg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9" name="quiz-icon-1" descr="MdQui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110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7647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ลูกค้ายกเลิกออเดอร์เองได้ถึงสถานะไหน?</a:t>
            </a:r>
            <a:endParaRPr lang="en-US" sz="1500" dirty="0"/>
          </a:p>
        </p:txBody>
      </p:sp>
      <p:sp>
        <p:nvSpPr>
          <p:cNvPr id="11" name="quiz-ans-1"/>
          <p:cNvSpPr/>
          <p:nvPr/>
        </p:nvSpPr>
        <p:spPr>
          <a:xfrm>
            <a:off x="5394960" y="1783080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32120" y="178308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PENDING ก่อนคลังกดรับ</a:t>
            </a:r>
            <a:endParaRPr lang="en-US" sz="1300" dirty="0"/>
          </a:p>
        </p:txBody>
      </p:sp>
      <p:sp>
        <p:nvSpPr>
          <p:cNvPr id="13" name="quiz-icon-2-bg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4" name="quiz-icon-2" descr="MdQui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6243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24780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ไรเดอร์กรอก OTP ผิดเกินกี่ครั้งจึงถูกล็อก?</a:t>
            </a:r>
            <a:endParaRPr lang="en-US" sz="1500" dirty="0"/>
          </a:p>
        </p:txBody>
      </p:sp>
      <p:sp>
        <p:nvSpPr>
          <p:cNvPr id="16" name="quiz-ans-2"/>
          <p:cNvSpPr/>
          <p:nvPr/>
        </p:nvSpPr>
        <p:spPr>
          <a:xfrm>
            <a:off x="5394960" y="2496312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532120" y="24963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ครั้ง ต้องให้แอดมินปลดล็อก</a:t>
            </a:r>
            <a:endParaRPr lang="en-US" sz="1300" dirty="0"/>
          </a:p>
        </p:txBody>
      </p:sp>
      <p:sp>
        <p:nvSpPr>
          <p:cNvPr id="18" name="quiz-icon-3-bg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9" name="quiz-icon-3" descr="MdQui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3375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1560" y="31912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ถ้าคลังนับถุงไม่ตรงกับไรเดอร์ จะเกิดอะไร?</a:t>
            </a:r>
            <a:endParaRPr lang="en-US" sz="1500" dirty="0"/>
          </a:p>
        </p:txBody>
      </p:sp>
      <p:sp>
        <p:nvSpPr>
          <p:cNvPr id="21" name="quiz-ans-3"/>
          <p:cNvSpPr/>
          <p:nvPr/>
        </p:nvSpPr>
        <p:spPr>
          <a:xfrm>
            <a:off x="5394960" y="3209544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532120" y="320954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เป็น BAG_RETURNED แอดมินเคลียร์แล้วปิดงาน</a:t>
            </a:r>
            <a:endParaRPr lang="en-US" sz="1300" dirty="0"/>
          </a:p>
        </p:txBody>
      </p:sp>
      <p:sp>
        <p:nvSpPr>
          <p:cNvPr id="23" name="quiz-icon-4-bg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24" name="quiz-icon-4" descr="MdQui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405079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51560" y="39044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ออเดอร์ไม่มีถุงคืน ปิดงานเมื่อไร?</a:t>
            </a:r>
            <a:endParaRPr lang="en-US" sz="1500" dirty="0"/>
          </a:p>
        </p:txBody>
      </p:sp>
      <p:sp>
        <p:nvSpPr>
          <p:cNvPr id="26" name="quiz-ans-4"/>
          <p:cNvSpPr/>
          <p:nvPr/>
        </p:nvSpPr>
        <p:spPr>
          <a:xfrm>
            <a:off x="5394960" y="3922776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532120" y="392277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ทันทีหลังไรเดอร์ยืนยันส่ง (CLOSED)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ถาม-ตอบ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ทดลองใช้ได้ที่ idrink.tamadee.online · ดูคู่มือฉบับเต็มเพื่อทบทวน</a:t>
            </a:r>
            <a:endParaRPr lang="en-US" sz="1800" dirty="0"/>
          </a:p>
        </p:txBody>
      </p:sp>
      <p:sp>
        <p:nvSpPr>
          <p:cNvPr id="4" name="close-circle"/>
          <p:cNvSpPr/>
          <p:nvPr/>
        </p:nvSpPr>
        <p:spPr>
          <a:xfrm>
            <a:off x="6492240" y="1188720"/>
            <a:ext cx="2286000" cy="228600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5" name="close-icon" descr="ถาม-ตอ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ink and Go Training">
  <a:themeElements>
    <a:clrScheme name="Drink and Go Training">
      <a:dk1>
        <a:srgbClr val="1B2A3A"/>
      </a:dk1>
      <a:lt1>
        <a:srgbClr val="FFFFFF"/>
      </a:lt1>
      <a:dk2>
        <a:srgbClr val="0F2D52"/>
      </a:dk2>
      <a:lt2>
        <a:srgbClr val="EEF4FA"/>
      </a:lt2>
      <a:accent1>
        <a:srgbClr val="1A73C9"/>
      </a:accent1>
      <a:accent2>
        <a:srgbClr val="E84A7F"/>
      </a:accent2>
      <a:accent3>
        <a:srgbClr val="2FB67C"/>
      </a:accent3>
      <a:accent4>
        <a:srgbClr val="F2A541"/>
      </a:accent4>
      <a:accent5>
        <a:srgbClr val="6B7C93"/>
      </a:accent5>
      <a:accent6>
        <a:srgbClr val="D6E6F5"/>
      </a:accent6>
      <a:hlink>
        <a:srgbClr val="1A73C9"/>
      </a:hlink>
      <a:folHlink>
        <a:srgbClr val="6B7C93"/>
      </a:folHlink>
    </a:clrScheme>
    <a:fontScheme name="Drink and Go Training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Drink&amp;Go Delivery</dc:title>
  <dc:subject>PptxGenJS Presentation</dc:subject>
  <dc:creator>Drink&amp;Go</dc:creator>
  <cp:lastModifiedBy>Drink&amp;Go</cp:lastModifiedBy>
  <cp:revision>1</cp:revision>
  <dcterms:created xsi:type="dcterms:W3CDTF">2026-10-25T02:08:40Z</dcterms:created>
  <dcterms:modified xsi:type="dcterms:W3CDTF">2026-10-25T02:08:40Z</dcterms:modified>
</cp:coreProperties>
</file>